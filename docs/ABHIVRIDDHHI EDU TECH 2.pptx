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4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721B4-A9F0-499B-B38F-C03F21D1FF90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BA8D6-EF70-4886-91F3-1FAEBBFAE1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5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85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4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18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19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14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4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62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9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99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94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794021D-40C9-4E80-A464-5CE3563704B4}" type="datetimeFigureOut">
              <a:rPr lang="en-IN" smtClean="0"/>
              <a:t>03-02-2024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562C630-59D8-400D-A99B-59736B13DB3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71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13C9-C180-B621-8A55-4F78053E7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865706" cy="1463040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Calisto MT" panose="02040603050505030304" pitchFamily="18" charset="0"/>
              </a:rPr>
              <a:t>ABHIVRIDDHHI INFO TECH</a:t>
            </a:r>
            <a:endParaRPr lang="en-IN" sz="4800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2A7D2-0F3C-73D0-B873-42336E143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1233" y="4582247"/>
            <a:ext cx="4572000" cy="489857"/>
          </a:xfrm>
        </p:spPr>
        <p:txBody>
          <a:bodyPr/>
          <a:lstStyle/>
          <a:p>
            <a:r>
              <a:rPr lang="en-GB" dirty="0">
                <a:latin typeface="Aptos Narrow" panose="020B0004020202020204" pitchFamily="34" charset="0"/>
              </a:rPr>
              <a:t>An Overview</a:t>
            </a:r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8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D596A-7CFE-FEE8-8239-2D1F1BA815CA}"/>
              </a:ext>
            </a:extLst>
          </p:cNvPr>
          <p:cNvSpPr txBox="1"/>
          <p:nvPr/>
        </p:nvSpPr>
        <p:spPr>
          <a:xfrm>
            <a:off x="1063923" y="2162547"/>
            <a:ext cx="1006415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Company Name</a:t>
            </a:r>
            <a:r>
              <a:rPr lang="en-IN" dirty="0"/>
              <a:t>: </a:t>
            </a:r>
            <a:r>
              <a:rPr lang="en-IN" dirty="0" err="1"/>
              <a:t>Abhivriddhi</a:t>
            </a:r>
            <a:r>
              <a:rPr lang="en-IN" dirty="0"/>
              <a:t> Infotech.</a:t>
            </a:r>
          </a:p>
          <a:p>
            <a:endParaRPr lang="en-IN" dirty="0"/>
          </a:p>
          <a:p>
            <a:r>
              <a:rPr lang="en-US" b="1" u="sng" dirty="0"/>
              <a:t>Mission Statement</a:t>
            </a:r>
            <a:r>
              <a:rPr lang="en-US" dirty="0"/>
              <a:t>: Empowering businesses through innovative and effective web solutions that drive growth and success.</a:t>
            </a:r>
          </a:p>
          <a:p>
            <a:endParaRPr lang="en-US" dirty="0"/>
          </a:p>
          <a:p>
            <a:r>
              <a:rPr lang="en-US" b="1" u="sng" dirty="0"/>
              <a:t>Team</a:t>
            </a:r>
            <a:r>
              <a:rPr lang="en-US" dirty="0"/>
              <a:t>: Our team comprises skilled and experienced professionals, including: </a:t>
            </a:r>
          </a:p>
          <a:p>
            <a:endParaRPr lang="en-US" dirty="0"/>
          </a:p>
          <a:p>
            <a:r>
              <a:rPr lang="en-US" dirty="0"/>
              <a:t>• Web Developers </a:t>
            </a:r>
          </a:p>
          <a:p>
            <a:r>
              <a:rPr lang="en-US" dirty="0"/>
              <a:t>• UI/UX Designers</a:t>
            </a:r>
          </a:p>
          <a:p>
            <a:r>
              <a:rPr lang="en-US" dirty="0"/>
              <a:t>• Mobile App Developers </a:t>
            </a:r>
          </a:p>
          <a:p>
            <a:r>
              <a:rPr lang="en-US" dirty="0"/>
              <a:t>• Project Managers </a:t>
            </a:r>
          </a:p>
          <a:p>
            <a:r>
              <a:rPr lang="en-US" dirty="0"/>
              <a:t>• Quality Assurance Specialists </a:t>
            </a:r>
          </a:p>
          <a:p>
            <a:r>
              <a:rPr lang="en-US" dirty="0"/>
              <a:t>• Business Analysts</a:t>
            </a:r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FEEEF-B82D-F097-1F4C-C0EF21FB95AC}"/>
              </a:ext>
            </a:extLst>
          </p:cNvPr>
          <p:cNvSpPr txBox="1"/>
          <p:nvPr/>
        </p:nvSpPr>
        <p:spPr>
          <a:xfrm>
            <a:off x="2248678" y="1063690"/>
            <a:ext cx="5931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Cambria" panose="02040503050406030204" pitchFamily="18" charset="0"/>
                <a:ea typeface="Cambria" panose="02040503050406030204" pitchFamily="18" charset="0"/>
              </a:rPr>
              <a:t>OVERVIEW OF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93622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2185DF-AB3B-6733-67D1-5D60AD551B7C}"/>
              </a:ext>
            </a:extLst>
          </p:cNvPr>
          <p:cNvSpPr txBox="1"/>
          <p:nvPr/>
        </p:nvSpPr>
        <p:spPr>
          <a:xfrm>
            <a:off x="3834882" y="961054"/>
            <a:ext cx="4721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Vision and 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B87D4-2E2D-391C-CFAD-AD6F3655F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395" y="1978868"/>
            <a:ext cx="1450132" cy="1450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960781-4205-1A40-3417-723644D86A47}"/>
              </a:ext>
            </a:extLst>
          </p:cNvPr>
          <p:cNvSpPr txBox="1"/>
          <p:nvPr/>
        </p:nvSpPr>
        <p:spPr>
          <a:xfrm>
            <a:off x="1968759" y="4067315"/>
            <a:ext cx="80896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“To be a leading force in the digital landscape, pioneering innovative web solutions that transform businesses and enrich the online experience for users globally. We envision a future where our commitment to excellence and cutting-edge technology empowers organizations to thrive in the digital era. We aim to help youngsters with startup ideas &amp; act as a startup incubator to fuel their ideas.”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5A154-FB98-A454-357A-809B594762FF}"/>
              </a:ext>
            </a:extLst>
          </p:cNvPr>
          <p:cNvSpPr txBox="1"/>
          <p:nvPr/>
        </p:nvSpPr>
        <p:spPr>
          <a:xfrm>
            <a:off x="1371599" y="3531638"/>
            <a:ext cx="1595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Vision</a:t>
            </a:r>
            <a:r>
              <a:rPr lang="en-IN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3099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CF290-F5DA-F053-2B07-025A8058DFB8}"/>
              </a:ext>
            </a:extLst>
          </p:cNvPr>
          <p:cNvSpPr txBox="1"/>
          <p:nvPr/>
        </p:nvSpPr>
        <p:spPr>
          <a:xfrm>
            <a:off x="1464906" y="3466322"/>
            <a:ext cx="112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/>
              <a:t>Mission</a:t>
            </a:r>
            <a:r>
              <a:rPr lang="en-IN" sz="2000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98569-D3CF-5E4B-16E7-AA919A8DD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703" y="1440414"/>
            <a:ext cx="1686411" cy="1392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C4A90-7CD2-CAC5-D68E-1F542F0DCD01}"/>
              </a:ext>
            </a:extLst>
          </p:cNvPr>
          <p:cNvSpPr txBox="1"/>
          <p:nvPr/>
        </p:nvSpPr>
        <p:spPr>
          <a:xfrm>
            <a:off x="2025316" y="4198775"/>
            <a:ext cx="8210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“At </a:t>
            </a:r>
            <a:r>
              <a:rPr lang="en-US" dirty="0" err="1"/>
              <a:t>Abhivriddhi</a:t>
            </a:r>
            <a:r>
              <a:rPr lang="en-US" dirty="0"/>
              <a:t>, our mission is to deliver tailored web development solutions that exceed client expectations. We are dedicated to leveraging our expertise in web technologies to create impactful, user-centric digital experiences. By fostering creativity, embracing challenges, and prioritizing client success, we aim to build lasting partnerships and contribute to the growth of businesses in an ever-evolving digital world.”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06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339158-87D1-4DFA-65C0-11332ED9BDA0}"/>
              </a:ext>
            </a:extLst>
          </p:cNvPr>
          <p:cNvSpPr txBox="1"/>
          <p:nvPr/>
        </p:nvSpPr>
        <p:spPr>
          <a:xfrm>
            <a:off x="3408842" y="733372"/>
            <a:ext cx="4828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Cambria" panose="02040503050406030204" pitchFamily="18" charset="0"/>
                <a:ea typeface="Cambria" panose="02040503050406030204" pitchFamily="18" charset="0"/>
              </a:rPr>
              <a:t>ORGANIZATION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19597-C3F1-66B6-4F25-44BD7C340A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6"/>
          <a:stretch/>
        </p:blipFill>
        <p:spPr>
          <a:xfrm>
            <a:off x="1811060" y="1699828"/>
            <a:ext cx="744605" cy="773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F8F9EC-8889-FB85-0B7D-2880B2B45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59" y="2854016"/>
            <a:ext cx="744605" cy="744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915CD-0DED-23E0-EF0B-D4C187FA5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58" y="3978115"/>
            <a:ext cx="744605" cy="744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1936B5-7A23-C918-1576-48222C6ED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57" y="5102214"/>
            <a:ext cx="744605" cy="744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E97E82-A7DB-0EA5-D6FD-46110BEE2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220" y="2892265"/>
            <a:ext cx="744605" cy="7446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82D749-0F24-796C-4C04-7B0390C2A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220" y="4006168"/>
            <a:ext cx="744605" cy="74460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EFDB8DA-DEED-2BBB-CC77-C26EBF337F52}"/>
              </a:ext>
            </a:extLst>
          </p:cNvPr>
          <p:cNvSpPr/>
          <p:nvPr/>
        </p:nvSpPr>
        <p:spPr>
          <a:xfrm>
            <a:off x="2844074" y="1665087"/>
            <a:ext cx="2800946" cy="8424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Aptos Display" panose="020B0004020202020204" pitchFamily="34" charset="0"/>
              </a:rPr>
              <a:t>         </a:t>
            </a:r>
            <a:r>
              <a:rPr lang="en-GB" sz="1400" b="1" dirty="0">
                <a:solidFill>
                  <a:schemeClr val="tx1"/>
                </a:solidFill>
                <a:latin typeface="Aptos Display" panose="020B0004020202020204" pitchFamily="34" charset="0"/>
              </a:rPr>
              <a:t>Abhilash Naidu G</a:t>
            </a:r>
          </a:p>
          <a:p>
            <a:r>
              <a:rPr lang="en-GB" sz="1200" dirty="0">
                <a:solidFill>
                  <a:schemeClr val="tx1"/>
                </a:solidFill>
                <a:latin typeface="Aptos Display" panose="020B0004020202020204" pitchFamily="34" charset="0"/>
              </a:rPr>
              <a:t>                    CEO</a:t>
            </a:r>
          </a:p>
          <a:p>
            <a:r>
              <a:rPr lang="en-GB" sz="1200" dirty="0">
                <a:solidFill>
                  <a:schemeClr val="tx1"/>
                </a:solidFill>
                <a:latin typeface="Aptos Display" panose="020B0004020202020204" pitchFamily="34" charset="0"/>
              </a:rPr>
              <a:t>     (Test Engineer &amp; SQL developer)</a:t>
            </a:r>
            <a:endParaRPr lang="en-IN" sz="12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2B88-854D-3DEF-56BC-3372CB85071C}"/>
              </a:ext>
            </a:extLst>
          </p:cNvPr>
          <p:cNvSpPr/>
          <p:nvPr/>
        </p:nvSpPr>
        <p:spPr>
          <a:xfrm>
            <a:off x="2844073" y="2843322"/>
            <a:ext cx="2203787" cy="8424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</a:rPr>
              <a:t>         </a:t>
            </a:r>
            <a:r>
              <a:rPr lang="en-GB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Sharath Kumar K</a:t>
            </a:r>
          </a:p>
          <a:p>
            <a:r>
              <a:rPr lang="en-GB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   Content Creator &amp; Front End                             </a:t>
            </a:r>
          </a:p>
          <a:p>
            <a:r>
              <a:rPr lang="en-GB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                  developer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E6ED0A-E172-B9EE-E5AC-12FCCA839465}"/>
              </a:ext>
            </a:extLst>
          </p:cNvPr>
          <p:cNvSpPr/>
          <p:nvPr/>
        </p:nvSpPr>
        <p:spPr>
          <a:xfrm>
            <a:off x="2844072" y="3978115"/>
            <a:ext cx="2203787" cy="8424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Aptos Narrow" panose="020B0004020202020204" pitchFamily="34" charset="0"/>
              </a:rPr>
              <a:t>                    </a:t>
            </a:r>
            <a:r>
              <a:rPr lang="en-GB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Manohara</a:t>
            </a:r>
          </a:p>
          <a:p>
            <a:r>
              <a:rPr lang="en-GB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          Full Stack Developer</a:t>
            </a:r>
            <a:endParaRPr lang="en-IN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057FF-E5BC-697E-CEA9-46798985CF72}"/>
              </a:ext>
            </a:extLst>
          </p:cNvPr>
          <p:cNvSpPr/>
          <p:nvPr/>
        </p:nvSpPr>
        <p:spPr>
          <a:xfrm>
            <a:off x="2844073" y="5114379"/>
            <a:ext cx="2203787" cy="8424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               Shashidhar </a:t>
            </a:r>
          </a:p>
          <a:p>
            <a:r>
              <a:rPr lang="en-GB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  </a:t>
            </a:r>
            <a:r>
              <a:rPr lang="en-GB" sz="1200" dirty="0">
                <a:solidFill>
                  <a:schemeClr val="tx1"/>
                </a:solidFill>
                <a:latin typeface="Aptos Narrow" panose="020B0004020202020204" pitchFamily="34" charset="0"/>
              </a:rPr>
              <a:t>Java back End Developer</a:t>
            </a:r>
            <a:endParaRPr lang="en-IN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A8C36B-1C0F-ACB2-99A8-86D9E2A60F96}"/>
              </a:ext>
            </a:extLst>
          </p:cNvPr>
          <p:cNvSpPr/>
          <p:nvPr/>
        </p:nvSpPr>
        <p:spPr>
          <a:xfrm>
            <a:off x="6912219" y="2805070"/>
            <a:ext cx="2203787" cy="8424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Aptos Display" panose="020B0004020202020204" pitchFamily="34" charset="0"/>
              </a:rPr>
              <a:t>         </a:t>
            </a:r>
            <a:r>
              <a:rPr lang="en-GB" sz="1400" b="1" dirty="0">
                <a:solidFill>
                  <a:schemeClr val="tx1"/>
                </a:solidFill>
                <a:latin typeface="Aptos Display" panose="020B0004020202020204" pitchFamily="34" charset="0"/>
              </a:rPr>
              <a:t>      Vignesh</a:t>
            </a:r>
          </a:p>
          <a:p>
            <a:r>
              <a:rPr lang="en-GB" sz="1200" dirty="0">
                <a:solidFill>
                  <a:schemeClr val="tx1"/>
                </a:solidFill>
                <a:latin typeface="Aptos Display" panose="020B0004020202020204" pitchFamily="34" charset="0"/>
              </a:rPr>
              <a:t>    Senior Spring Boot (java)   </a:t>
            </a:r>
          </a:p>
          <a:p>
            <a:r>
              <a:rPr lang="en-GB" sz="1200" dirty="0">
                <a:solidFill>
                  <a:schemeClr val="tx1"/>
                </a:solidFill>
                <a:latin typeface="Aptos Display" panose="020B0004020202020204" pitchFamily="34" charset="0"/>
              </a:rPr>
              <a:t>             Developer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7F81BB-EC8A-0479-410E-EE14ABBD5A4C}"/>
              </a:ext>
            </a:extLst>
          </p:cNvPr>
          <p:cNvSpPr/>
          <p:nvPr/>
        </p:nvSpPr>
        <p:spPr>
          <a:xfrm>
            <a:off x="6912219" y="3978114"/>
            <a:ext cx="2203787" cy="8424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solidFill>
                  <a:schemeClr val="tx1"/>
                </a:solidFill>
                <a:latin typeface="Aptos Narrow" panose="020B0004020202020204" pitchFamily="34" charset="0"/>
              </a:rPr>
              <a:t>                     </a:t>
            </a:r>
            <a:r>
              <a:rPr lang="en-GB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Arvind</a:t>
            </a:r>
          </a:p>
          <a:p>
            <a:r>
              <a:rPr lang="en-GB" sz="1200" dirty="0">
                <a:solidFill>
                  <a:schemeClr val="tx1"/>
                </a:solidFill>
                <a:latin typeface="Aptos Narrow" panose="020B0004020202020204" pitchFamily="34" charset="0"/>
              </a:rPr>
              <a:t>     Python Front End Developer</a:t>
            </a:r>
            <a:endParaRPr lang="en-IN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EA4588-0ABC-5684-C972-D227E0D620F4}"/>
              </a:ext>
            </a:extLst>
          </p:cNvPr>
          <p:cNvSpPr/>
          <p:nvPr/>
        </p:nvSpPr>
        <p:spPr>
          <a:xfrm>
            <a:off x="1231640" y="1464906"/>
            <a:ext cx="8705461" cy="465972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9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15C0DE-4CE5-4418-0AD3-480E19743223}"/>
              </a:ext>
            </a:extLst>
          </p:cNvPr>
          <p:cNvSpPr txBox="1"/>
          <p:nvPr/>
        </p:nvSpPr>
        <p:spPr>
          <a:xfrm>
            <a:off x="1558211" y="737115"/>
            <a:ext cx="8640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Services Offered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IN" sz="1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101060-A3F6-3B6E-C976-59C76AA062CA}"/>
              </a:ext>
            </a:extLst>
          </p:cNvPr>
          <p:cNvGrpSpPr>
            <a:grpSpLocks/>
          </p:cNvGrpSpPr>
          <p:nvPr/>
        </p:nvGrpSpPr>
        <p:grpSpPr bwMode="auto">
          <a:xfrm>
            <a:off x="3310147" y="1382472"/>
            <a:ext cx="5136275" cy="4981005"/>
            <a:chOff x="866" y="319"/>
            <a:chExt cx="10568" cy="10568"/>
          </a:xfrm>
        </p:grpSpPr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56A188C2-6AC3-2D1B-8E92-85D041B7E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" y="334"/>
              <a:ext cx="10538" cy="10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3BDABAEA-8200-EECF-7224-F5AC62120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26"/>
              <a:ext cx="10553" cy="1055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6487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B1894-67C0-F50A-AB84-697D18289CC6}"/>
              </a:ext>
            </a:extLst>
          </p:cNvPr>
          <p:cNvSpPr txBox="1"/>
          <p:nvPr/>
        </p:nvSpPr>
        <p:spPr>
          <a:xfrm>
            <a:off x="3713723" y="989045"/>
            <a:ext cx="4409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 dirty="0">
                <a:latin typeface="Copperplate Gothic Bold" panose="020E0705020206020404" pitchFamily="34" charset="0"/>
              </a:rPr>
              <a:t>Full Stack development</a:t>
            </a:r>
            <a:endParaRPr lang="en-IN" sz="2400" u="sng" dirty="0">
              <a:latin typeface="Copperplate Gothic Bold" panose="020E07050202060204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A43ED-6853-0953-38F1-28799E77B4F7}"/>
              </a:ext>
            </a:extLst>
          </p:cNvPr>
          <p:cNvSpPr txBox="1"/>
          <p:nvPr/>
        </p:nvSpPr>
        <p:spPr>
          <a:xfrm>
            <a:off x="1315616" y="1819470"/>
            <a:ext cx="87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latin typeface="Aptos Display" panose="020B0004020202020204" pitchFamily="34" charset="0"/>
              </a:rPr>
              <a:t>Topics:</a:t>
            </a:r>
            <a:endParaRPr lang="en-IN" b="1" u="sng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8199F-5C34-8C75-720C-97150DE34BDB}"/>
              </a:ext>
            </a:extLst>
          </p:cNvPr>
          <p:cNvSpPr txBox="1"/>
          <p:nvPr/>
        </p:nvSpPr>
        <p:spPr>
          <a:xfrm>
            <a:off x="2099388" y="2188802"/>
            <a:ext cx="51598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Introduction to Front-end, Back-end, Database.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dirty="0"/>
              <a:t>Front-end languages(HTML, CSS, JS).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dirty="0"/>
              <a:t>Back-end languages(Java).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Database languages(</a:t>
            </a:r>
            <a:r>
              <a:rPr lang="en-GB" dirty="0" err="1"/>
              <a:t>MySql</a:t>
            </a:r>
            <a:r>
              <a:rPr lang="en-GB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52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1AAE4-9B40-6759-4C63-20935DA24614}"/>
              </a:ext>
            </a:extLst>
          </p:cNvPr>
          <p:cNvSpPr txBox="1"/>
          <p:nvPr/>
        </p:nvSpPr>
        <p:spPr>
          <a:xfrm>
            <a:off x="3191069" y="877078"/>
            <a:ext cx="4948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u="sng" dirty="0">
                <a:latin typeface="Californian FB" panose="0207040306080B030204" pitchFamily="18" charset="0"/>
              </a:rPr>
              <a:t>Introduction to front-end languages</a:t>
            </a:r>
            <a:endParaRPr lang="en-IN" sz="2400" b="1" u="sng" dirty="0">
              <a:latin typeface="Californian FB" panose="0207040306080B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B13FC-22E0-5B9B-B28B-D34E7F69307F}"/>
              </a:ext>
            </a:extLst>
          </p:cNvPr>
          <p:cNvSpPr txBox="1"/>
          <p:nvPr/>
        </p:nvSpPr>
        <p:spPr>
          <a:xfrm>
            <a:off x="1492898" y="1986075"/>
            <a:ext cx="7716416" cy="2961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u="sng" dirty="0">
                <a:latin typeface="Cambria" panose="02040503050406030204" pitchFamily="18" charset="0"/>
                <a:ea typeface="Cambria" panose="02040503050406030204" pitchFamily="18" charset="0"/>
              </a:rPr>
              <a:t>HTML</a:t>
            </a:r>
            <a:r>
              <a:rPr lang="en-GB" b="1" dirty="0"/>
              <a:t>: </a:t>
            </a:r>
            <a:r>
              <a:rPr lang="en-GB" dirty="0"/>
              <a:t>It stands for hyper text markup language. It used to create structure or building blocks of the website.</a:t>
            </a:r>
          </a:p>
          <a:p>
            <a:pPr>
              <a:lnSpc>
                <a:spcPct val="150000"/>
              </a:lnSpc>
            </a:pPr>
            <a:r>
              <a:rPr lang="en-GB" b="1" u="sng" dirty="0">
                <a:latin typeface="Cambria" panose="02040503050406030204" pitchFamily="18" charset="0"/>
                <a:ea typeface="Cambria" panose="02040503050406030204" pitchFamily="18" charset="0"/>
              </a:rPr>
              <a:t>CSS</a:t>
            </a:r>
            <a:r>
              <a:rPr lang="en-GB" b="1" dirty="0"/>
              <a:t>: </a:t>
            </a:r>
            <a:r>
              <a:rPr lang="en-GB" dirty="0"/>
              <a:t>It stands for cascading style sheets. It used to create design in the webpage and make website more attractive.</a:t>
            </a:r>
          </a:p>
          <a:p>
            <a:pPr>
              <a:lnSpc>
                <a:spcPct val="150000"/>
              </a:lnSpc>
            </a:pPr>
            <a:r>
              <a:rPr lang="en-GB" b="1" u="sng" dirty="0">
                <a:latin typeface="Cambria" panose="02040503050406030204" pitchFamily="18" charset="0"/>
                <a:ea typeface="Cambria" panose="02040503050406030204" pitchFamily="18" charset="0"/>
              </a:rPr>
              <a:t>JS</a:t>
            </a:r>
            <a:r>
              <a:rPr lang="en-GB" b="1" dirty="0"/>
              <a:t>: </a:t>
            </a:r>
            <a:r>
              <a:rPr lang="en-GB" dirty="0"/>
              <a:t>It stands for Java Script. it is a Scripting language &amp; it is used to add functionality </a:t>
            </a:r>
          </a:p>
          <a:p>
            <a:pPr>
              <a:lnSpc>
                <a:spcPct val="150000"/>
              </a:lnSpc>
            </a:pPr>
            <a:r>
              <a:rPr lang="en-GB" dirty="0"/>
              <a:t>to the webpage.</a:t>
            </a:r>
          </a:p>
          <a:p>
            <a:pPr>
              <a:lnSpc>
                <a:spcPct val="150000"/>
              </a:lnSpc>
            </a:pPr>
            <a:r>
              <a:rPr lang="en-GB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7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50653C-DDA4-5231-659C-E92878B92DB3}"/>
              </a:ext>
            </a:extLst>
          </p:cNvPr>
          <p:cNvSpPr txBox="1"/>
          <p:nvPr/>
        </p:nvSpPr>
        <p:spPr>
          <a:xfrm>
            <a:off x="3512953" y="951722"/>
            <a:ext cx="5166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Introduction to Back-end language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3EE0F-21BB-B1E2-D7DC-77FBB2AEC58B}"/>
              </a:ext>
            </a:extLst>
          </p:cNvPr>
          <p:cNvSpPr txBox="1"/>
          <p:nvPr/>
        </p:nvSpPr>
        <p:spPr>
          <a:xfrm>
            <a:off x="1869232" y="2150506"/>
            <a:ext cx="8453535" cy="97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en-GB" sz="2000" b="1" dirty="0"/>
              <a:t>: </a:t>
            </a:r>
            <a:r>
              <a:rPr lang="en-GB" sz="2000" dirty="0"/>
              <a:t>java is high-level programming language &amp; it is statically typed, functionally typed, object oriented &amp; it is both compiled and interpreter language.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325A3-1010-DE1D-0BB1-A444C645A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90" y="3859879"/>
            <a:ext cx="2466975" cy="16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4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1ACAA-124D-881C-AB60-BF651A810C3A}"/>
              </a:ext>
            </a:extLst>
          </p:cNvPr>
          <p:cNvSpPr txBox="1"/>
          <p:nvPr/>
        </p:nvSpPr>
        <p:spPr>
          <a:xfrm>
            <a:off x="1754875" y="632509"/>
            <a:ext cx="8682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Difference Between programming &amp; scripting language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146F7-68B6-DC0B-8156-3C14C7AA2591}"/>
              </a:ext>
            </a:extLst>
          </p:cNvPr>
          <p:cNvSpPr txBox="1"/>
          <p:nvPr/>
        </p:nvSpPr>
        <p:spPr>
          <a:xfrm>
            <a:off x="1910627" y="1376199"/>
            <a:ext cx="406814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Programming lang</a:t>
            </a:r>
            <a:r>
              <a:rPr lang="en-GB" dirty="0"/>
              <a:t>                                                                    </a:t>
            </a:r>
            <a:endParaRPr lang="en-GB" b="1" u="sng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 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is compiler based language.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takes all lines of code at a time for                           </a:t>
            </a:r>
          </a:p>
          <a:p>
            <a:r>
              <a:rPr lang="en-GB" sz="1600" dirty="0"/>
              <a:t>     Execution if there is no error in any line</a:t>
            </a:r>
          </a:p>
          <a:p>
            <a:r>
              <a:rPr lang="en-GB" sz="1600" dirty="0"/>
              <a:t>     it executes or if any error in any line it </a:t>
            </a:r>
          </a:p>
          <a:p>
            <a:r>
              <a:rPr lang="en-GB" sz="1600" dirty="0"/>
              <a:t>      will terminate the whole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multi threaded programming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is statically typed language.</a:t>
            </a:r>
          </a:p>
          <a:p>
            <a:r>
              <a:rPr lang="en-GB" sz="1600" dirty="0"/>
              <a:t>Ex:- Java, C, C++ etc.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630FF-01D2-FCE2-A6FF-B0149B0B31D7}"/>
              </a:ext>
            </a:extLst>
          </p:cNvPr>
          <p:cNvSpPr txBox="1"/>
          <p:nvPr/>
        </p:nvSpPr>
        <p:spPr>
          <a:xfrm>
            <a:off x="6354146" y="1376199"/>
            <a:ext cx="43107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Scripting language</a:t>
            </a:r>
          </a:p>
          <a:p>
            <a:r>
              <a:rPr lang="en-GB" b="1" u="sng" dirty="0"/>
              <a:t> </a:t>
            </a:r>
          </a:p>
          <a:p>
            <a:endParaRPr lang="en-GB" b="1" u="sng" dirty="0"/>
          </a:p>
          <a:p>
            <a:endParaRPr lang="en-GB" b="1" u="sng" dirty="0"/>
          </a:p>
          <a:p>
            <a:endParaRPr lang="en-GB" b="1" u="sng" dirty="0"/>
          </a:p>
          <a:p>
            <a:endParaRPr lang="en-GB" b="1" u="sng" dirty="0"/>
          </a:p>
          <a:p>
            <a:endParaRPr lang="en-GB" b="1" u="sng" dirty="0"/>
          </a:p>
          <a:p>
            <a:endParaRPr lang="en-GB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is interpreter based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takes the code line by line for the execution </a:t>
            </a:r>
          </a:p>
          <a:p>
            <a:r>
              <a:rPr lang="en-GB" sz="1600" dirty="0"/>
              <a:t>if there is no error all line are executed or if there is any error in any line it will stop the execution from that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is single threaded programming language.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is dynamically typed language.</a:t>
            </a:r>
          </a:p>
          <a:p>
            <a:r>
              <a:rPr lang="en-GB" sz="1600" dirty="0"/>
              <a:t>Ex:- Python, JavaScript, </a:t>
            </a:r>
            <a:r>
              <a:rPr lang="en-GB" sz="1600" dirty="0" err="1"/>
              <a:t>Php</a:t>
            </a:r>
            <a:r>
              <a:rPr lang="en-GB" sz="1600" dirty="0"/>
              <a:t>, etc.</a:t>
            </a:r>
          </a:p>
          <a:p>
            <a:endParaRPr lang="en-GB" sz="1600" b="1" u="sng" dirty="0"/>
          </a:p>
          <a:p>
            <a:endParaRPr lang="en-IN" b="1" u="s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8EDC2-8C4A-06D0-D194-F514449FB717}"/>
              </a:ext>
            </a:extLst>
          </p:cNvPr>
          <p:cNvSpPr/>
          <p:nvPr/>
        </p:nvSpPr>
        <p:spPr>
          <a:xfrm>
            <a:off x="1754875" y="1380092"/>
            <a:ext cx="8901405" cy="45420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C66065-56F6-86F7-4116-333D51136CBB}"/>
              </a:ext>
            </a:extLst>
          </p:cNvPr>
          <p:cNvCxnSpPr/>
          <p:nvPr/>
        </p:nvCxnSpPr>
        <p:spPr>
          <a:xfrm>
            <a:off x="5980922" y="1376199"/>
            <a:ext cx="0" cy="45459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07BE2D-F4CD-3723-AD9A-B0E90FE3A686}"/>
              </a:ext>
            </a:extLst>
          </p:cNvPr>
          <p:cNvSpPr/>
          <p:nvPr/>
        </p:nvSpPr>
        <p:spPr>
          <a:xfrm>
            <a:off x="2127380" y="1978090"/>
            <a:ext cx="597159" cy="1287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6E473E-5A09-6A9A-DEF0-46665F971D4E}"/>
              </a:ext>
            </a:extLst>
          </p:cNvPr>
          <p:cNvSpPr/>
          <p:nvPr/>
        </p:nvSpPr>
        <p:spPr>
          <a:xfrm>
            <a:off x="3041780" y="2491273"/>
            <a:ext cx="503853" cy="4012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71EA23-83D9-8E60-1643-A0039400E8E2}"/>
              </a:ext>
            </a:extLst>
          </p:cNvPr>
          <p:cNvSpPr/>
          <p:nvPr/>
        </p:nvSpPr>
        <p:spPr>
          <a:xfrm>
            <a:off x="3778898" y="2276669"/>
            <a:ext cx="821094" cy="8770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2AD94-4B44-8F19-1159-B02025FB1460}"/>
              </a:ext>
            </a:extLst>
          </p:cNvPr>
          <p:cNvSpPr/>
          <p:nvPr/>
        </p:nvSpPr>
        <p:spPr>
          <a:xfrm>
            <a:off x="4926563" y="2425959"/>
            <a:ext cx="774441" cy="466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054F65-D775-6091-0912-31592EB8DB16}"/>
              </a:ext>
            </a:extLst>
          </p:cNvPr>
          <p:cNvCxnSpPr>
            <a:stCxn id="8" idx="3"/>
          </p:cNvCxnSpPr>
          <p:nvPr/>
        </p:nvCxnSpPr>
        <p:spPr>
          <a:xfrm>
            <a:off x="2724539" y="2621902"/>
            <a:ext cx="326571" cy="933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61A351-6024-E12E-D38A-6C21740B1B22}"/>
              </a:ext>
            </a:extLst>
          </p:cNvPr>
          <p:cNvCxnSpPr>
            <a:endCxn id="10" idx="1"/>
          </p:cNvCxnSpPr>
          <p:nvPr/>
        </p:nvCxnSpPr>
        <p:spPr>
          <a:xfrm>
            <a:off x="3545633" y="2707670"/>
            <a:ext cx="233265" cy="75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048C10-6478-063E-329C-01CC43028817}"/>
              </a:ext>
            </a:extLst>
          </p:cNvPr>
          <p:cNvCxnSpPr>
            <a:cxnSpLocks/>
          </p:cNvCxnSpPr>
          <p:nvPr/>
        </p:nvCxnSpPr>
        <p:spPr>
          <a:xfrm flipV="1">
            <a:off x="4608601" y="2705878"/>
            <a:ext cx="326571" cy="55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554D33F-6966-AF03-F432-0BF85000727F}"/>
              </a:ext>
            </a:extLst>
          </p:cNvPr>
          <p:cNvSpPr/>
          <p:nvPr/>
        </p:nvSpPr>
        <p:spPr>
          <a:xfrm>
            <a:off x="5134353" y="2892490"/>
            <a:ext cx="387221" cy="251926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F0D1C4-3259-DF4F-2A46-A36C3DE165B4}"/>
              </a:ext>
            </a:extLst>
          </p:cNvPr>
          <p:cNvCxnSpPr>
            <a:cxnSpLocks/>
          </p:cNvCxnSpPr>
          <p:nvPr/>
        </p:nvCxnSpPr>
        <p:spPr>
          <a:xfrm>
            <a:off x="2248678" y="2192694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282DC0-2AD7-25E1-83C9-F3432F933B09}"/>
              </a:ext>
            </a:extLst>
          </p:cNvPr>
          <p:cNvCxnSpPr>
            <a:cxnSpLocks/>
          </p:cNvCxnSpPr>
          <p:nvPr/>
        </p:nvCxnSpPr>
        <p:spPr>
          <a:xfrm>
            <a:off x="2240305" y="2621902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F5A13F-DB6E-756E-C409-1011E2D1AA66}"/>
              </a:ext>
            </a:extLst>
          </p:cNvPr>
          <p:cNvCxnSpPr>
            <a:cxnSpLocks/>
          </p:cNvCxnSpPr>
          <p:nvPr/>
        </p:nvCxnSpPr>
        <p:spPr>
          <a:xfrm>
            <a:off x="2248678" y="2401077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86C438-222E-3AAB-147A-61F652751F7D}"/>
              </a:ext>
            </a:extLst>
          </p:cNvPr>
          <p:cNvCxnSpPr>
            <a:cxnSpLocks/>
          </p:cNvCxnSpPr>
          <p:nvPr/>
        </p:nvCxnSpPr>
        <p:spPr>
          <a:xfrm>
            <a:off x="2265186" y="2491273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3ADBF5-E555-E815-B5E2-ED49D54B9B17}"/>
              </a:ext>
            </a:extLst>
          </p:cNvPr>
          <p:cNvCxnSpPr>
            <a:cxnSpLocks/>
          </p:cNvCxnSpPr>
          <p:nvPr/>
        </p:nvCxnSpPr>
        <p:spPr>
          <a:xfrm>
            <a:off x="2265186" y="2326432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EA8492A-28FC-BB8C-1587-C5F07A4D8AEC}"/>
              </a:ext>
            </a:extLst>
          </p:cNvPr>
          <p:cNvCxnSpPr>
            <a:cxnSpLocks/>
          </p:cNvCxnSpPr>
          <p:nvPr/>
        </p:nvCxnSpPr>
        <p:spPr>
          <a:xfrm>
            <a:off x="2240305" y="2715208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DF029D1-ABA7-8AF1-F948-29819F1C1F04}"/>
              </a:ext>
            </a:extLst>
          </p:cNvPr>
          <p:cNvCxnSpPr>
            <a:cxnSpLocks/>
          </p:cNvCxnSpPr>
          <p:nvPr/>
        </p:nvCxnSpPr>
        <p:spPr>
          <a:xfrm>
            <a:off x="2265186" y="2783633"/>
            <a:ext cx="3215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A40E40-A5CA-6E9B-E7C4-3B7302FEF4D2}"/>
              </a:ext>
            </a:extLst>
          </p:cNvPr>
          <p:cNvCxnSpPr/>
          <p:nvPr/>
        </p:nvCxnSpPr>
        <p:spPr>
          <a:xfrm flipV="1">
            <a:off x="3293706" y="2192694"/>
            <a:ext cx="0" cy="29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970EAD-6681-017B-9FDC-BD463B700F9D}"/>
              </a:ext>
            </a:extLst>
          </p:cNvPr>
          <p:cNvCxnSpPr>
            <a:stCxn id="10" idx="0"/>
          </p:cNvCxnSpPr>
          <p:nvPr/>
        </p:nvCxnSpPr>
        <p:spPr>
          <a:xfrm flipV="1">
            <a:off x="4189445" y="1978090"/>
            <a:ext cx="0" cy="29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5684FB3-AFEA-3A13-57D0-50F6E23A84D3}"/>
              </a:ext>
            </a:extLst>
          </p:cNvPr>
          <p:cNvSpPr txBox="1"/>
          <p:nvPr/>
        </p:nvSpPr>
        <p:spPr>
          <a:xfrm>
            <a:off x="3855058" y="1758048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interpreter</a:t>
            </a:r>
            <a:endParaRPr lang="en-IN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86C07F-EA86-730E-40EB-BEF5B24B7157}"/>
              </a:ext>
            </a:extLst>
          </p:cNvPr>
          <p:cNvSpPr txBox="1"/>
          <p:nvPr/>
        </p:nvSpPr>
        <p:spPr>
          <a:xfrm>
            <a:off x="2993492" y="1972652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compiler</a:t>
            </a:r>
            <a:endParaRPr lang="en-IN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BA6BCB-08B5-7859-8F3D-454C072B1019}"/>
              </a:ext>
            </a:extLst>
          </p:cNvPr>
          <p:cNvSpPr txBox="1"/>
          <p:nvPr/>
        </p:nvSpPr>
        <p:spPr>
          <a:xfrm>
            <a:off x="2149095" y="1752276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file</a:t>
            </a:r>
            <a:endParaRPr lang="en-IN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C3D782-24C5-97AB-31AE-C0598E365C1B}"/>
              </a:ext>
            </a:extLst>
          </p:cNvPr>
          <p:cNvSpPr txBox="1"/>
          <p:nvPr/>
        </p:nvSpPr>
        <p:spPr>
          <a:xfrm>
            <a:off x="4972495" y="2486222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output</a:t>
            </a:r>
            <a:endParaRPr lang="en-IN" sz="1000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FD34B0-4FDA-14BA-81A1-2643BB74CF4D}"/>
              </a:ext>
            </a:extLst>
          </p:cNvPr>
          <p:cNvSpPr/>
          <p:nvPr/>
        </p:nvSpPr>
        <p:spPr>
          <a:xfrm>
            <a:off x="6519331" y="1972251"/>
            <a:ext cx="671804" cy="1155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4CECBDF-DCE4-6FCB-3D0E-E4F36BFEEE3E}"/>
              </a:ext>
            </a:extLst>
          </p:cNvPr>
          <p:cNvSpPr/>
          <p:nvPr/>
        </p:nvSpPr>
        <p:spPr>
          <a:xfrm>
            <a:off x="7595118" y="2237662"/>
            <a:ext cx="807966" cy="7433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F6099C1-47D4-CF4E-FC8A-17F48FDA3F23}"/>
              </a:ext>
            </a:extLst>
          </p:cNvPr>
          <p:cNvSpPr/>
          <p:nvPr/>
        </p:nvSpPr>
        <p:spPr>
          <a:xfrm>
            <a:off x="8883825" y="2326432"/>
            <a:ext cx="807966" cy="457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BED58D39-FAEB-6DC7-8FD8-4F19B7570B7C}"/>
              </a:ext>
            </a:extLst>
          </p:cNvPr>
          <p:cNvSpPr/>
          <p:nvPr/>
        </p:nvSpPr>
        <p:spPr>
          <a:xfrm>
            <a:off x="9089831" y="2797790"/>
            <a:ext cx="395954" cy="227045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53160C7-56E7-AA2A-81FC-B0D99CBE339C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7191135" y="2549876"/>
            <a:ext cx="403983" cy="594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BBF36F-3907-D173-8CE7-AAF96E5268E4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 flipV="1">
            <a:off x="8403084" y="2555033"/>
            <a:ext cx="480741" cy="542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162231-77E2-0E87-DBE1-0E38B127168A}"/>
              </a:ext>
            </a:extLst>
          </p:cNvPr>
          <p:cNvCxnSpPr/>
          <p:nvPr/>
        </p:nvCxnSpPr>
        <p:spPr>
          <a:xfrm>
            <a:off x="6695790" y="2192694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3686CE9-349F-F84E-4385-6BA6501397E4}"/>
              </a:ext>
            </a:extLst>
          </p:cNvPr>
          <p:cNvCxnSpPr/>
          <p:nvPr/>
        </p:nvCxnSpPr>
        <p:spPr>
          <a:xfrm>
            <a:off x="6695790" y="2276669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F73F9C-083F-886C-0BFC-BA6EC52265F2}"/>
              </a:ext>
            </a:extLst>
          </p:cNvPr>
          <p:cNvCxnSpPr/>
          <p:nvPr/>
        </p:nvCxnSpPr>
        <p:spPr>
          <a:xfrm>
            <a:off x="6695790" y="2401077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D2F464F-651D-782F-C4C6-5A63B52FA9EB}"/>
              </a:ext>
            </a:extLst>
          </p:cNvPr>
          <p:cNvCxnSpPr/>
          <p:nvPr/>
        </p:nvCxnSpPr>
        <p:spPr>
          <a:xfrm>
            <a:off x="6695790" y="2486222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E61839-B663-33F0-1BAF-E0723301026A}"/>
              </a:ext>
            </a:extLst>
          </p:cNvPr>
          <p:cNvCxnSpPr/>
          <p:nvPr/>
        </p:nvCxnSpPr>
        <p:spPr>
          <a:xfrm>
            <a:off x="6695790" y="2609330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81682E-0A52-59A4-5B89-9C616D82F29F}"/>
              </a:ext>
            </a:extLst>
          </p:cNvPr>
          <p:cNvCxnSpPr/>
          <p:nvPr/>
        </p:nvCxnSpPr>
        <p:spPr>
          <a:xfrm>
            <a:off x="6652727" y="2127379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123233E-F9A7-E035-7E8D-7B05BCF988F0}"/>
              </a:ext>
            </a:extLst>
          </p:cNvPr>
          <p:cNvCxnSpPr/>
          <p:nvPr/>
        </p:nvCxnSpPr>
        <p:spPr>
          <a:xfrm>
            <a:off x="6695790" y="2761861"/>
            <a:ext cx="3804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021A183-3BB1-5471-43FD-40D6004D3FDC}"/>
              </a:ext>
            </a:extLst>
          </p:cNvPr>
          <p:cNvCxnSpPr>
            <a:stCxn id="45" idx="0"/>
          </p:cNvCxnSpPr>
          <p:nvPr/>
        </p:nvCxnSpPr>
        <p:spPr>
          <a:xfrm flipV="1">
            <a:off x="7999101" y="1972251"/>
            <a:ext cx="0" cy="265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81972A1-6463-0FF9-A280-CB63A9DDC984}"/>
              </a:ext>
            </a:extLst>
          </p:cNvPr>
          <p:cNvSpPr txBox="1"/>
          <p:nvPr/>
        </p:nvSpPr>
        <p:spPr>
          <a:xfrm>
            <a:off x="6453141" y="1742933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file</a:t>
            </a:r>
            <a:endParaRPr lang="en-IN" sz="10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6F274C-F129-E2E1-FC0E-2440A525CA66}"/>
              </a:ext>
            </a:extLst>
          </p:cNvPr>
          <p:cNvSpPr txBox="1"/>
          <p:nvPr/>
        </p:nvSpPr>
        <p:spPr>
          <a:xfrm>
            <a:off x="7642940" y="175227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interpreter</a:t>
            </a:r>
            <a:endParaRPr lang="en-IN" sz="10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439945-288B-8808-B887-25E4401FFA00}"/>
              </a:ext>
            </a:extLst>
          </p:cNvPr>
          <p:cNvSpPr txBox="1"/>
          <p:nvPr/>
        </p:nvSpPr>
        <p:spPr>
          <a:xfrm>
            <a:off x="8935952" y="2378635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/>
              <a:t>output</a:t>
            </a: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2749951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F9D2D-5D53-2D87-48DC-96420EE3FD0B}"/>
              </a:ext>
            </a:extLst>
          </p:cNvPr>
          <p:cNvSpPr txBox="1"/>
          <p:nvPr/>
        </p:nvSpPr>
        <p:spPr>
          <a:xfrm>
            <a:off x="4058817" y="905070"/>
            <a:ext cx="3360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u="sng" dirty="0">
                <a:latin typeface="Cambria" panose="02040503050406030204" pitchFamily="18" charset="0"/>
                <a:ea typeface="Cambria" panose="02040503050406030204" pitchFamily="18" charset="0"/>
              </a:rPr>
              <a:t>Data base language</a:t>
            </a:r>
            <a:endParaRPr lang="en-IN" sz="28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C4798-3BB0-6299-0E52-8B4BC5284EB4}"/>
              </a:ext>
            </a:extLst>
          </p:cNvPr>
          <p:cNvSpPr txBox="1"/>
          <p:nvPr/>
        </p:nvSpPr>
        <p:spPr>
          <a:xfrm>
            <a:off x="1415920" y="1917440"/>
            <a:ext cx="88850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SQL</a:t>
            </a:r>
            <a:r>
              <a:rPr lang="en-GB" dirty="0"/>
              <a:t>: it denotes </a:t>
            </a:r>
            <a:r>
              <a:rPr lang="en-IN" dirty="0"/>
              <a:t>“</a:t>
            </a:r>
            <a:r>
              <a:rPr lang="en-GB" dirty="0"/>
              <a:t>Structured Query language”.it stores data in a structural format and data is retrieve using queries.</a:t>
            </a:r>
          </a:p>
          <a:p>
            <a:endParaRPr lang="en-GB" dirty="0"/>
          </a:p>
          <a:p>
            <a:r>
              <a:rPr lang="en-GB" b="1" dirty="0"/>
              <a:t>Data</a:t>
            </a:r>
            <a:r>
              <a:rPr lang="en-GB" dirty="0"/>
              <a:t>: It is a raw fact which describes attributes of entity.</a:t>
            </a:r>
          </a:p>
          <a:p>
            <a:endParaRPr lang="en-GB" dirty="0"/>
          </a:p>
          <a:p>
            <a:r>
              <a:rPr lang="en-GB" b="1" dirty="0"/>
              <a:t>Database</a:t>
            </a:r>
            <a:r>
              <a:rPr lang="en-GB" dirty="0"/>
              <a:t>: It is place or medium in which we store the data in a particular and organized manner.</a:t>
            </a:r>
          </a:p>
          <a:p>
            <a:endParaRPr lang="en-GB" dirty="0"/>
          </a:p>
          <a:p>
            <a:r>
              <a:rPr lang="en-GB" b="1" dirty="0"/>
              <a:t>DBMS</a:t>
            </a:r>
            <a:r>
              <a:rPr lang="en-GB" dirty="0"/>
              <a:t>: It stands for Database Management System. It is used maintain and manage data.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57DB1-3CA8-090A-24C6-1DD1C14442C5}"/>
              </a:ext>
            </a:extLst>
          </p:cNvPr>
          <p:cNvSpPr/>
          <p:nvPr/>
        </p:nvSpPr>
        <p:spPr>
          <a:xfrm>
            <a:off x="3508311" y="4944196"/>
            <a:ext cx="2015412" cy="15714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848F9D-294E-7A4E-0A98-9BFD84EE9EEA}"/>
              </a:ext>
            </a:extLst>
          </p:cNvPr>
          <p:cNvSpPr/>
          <p:nvPr/>
        </p:nvSpPr>
        <p:spPr>
          <a:xfrm>
            <a:off x="3979432" y="5306571"/>
            <a:ext cx="1032588" cy="973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35AFB-F9DA-4331-20FA-47782CF82983}"/>
              </a:ext>
            </a:extLst>
          </p:cNvPr>
          <p:cNvSpPr/>
          <p:nvPr/>
        </p:nvSpPr>
        <p:spPr>
          <a:xfrm>
            <a:off x="4250020" y="5793318"/>
            <a:ext cx="491412" cy="2363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4595C1-DA2A-CF75-8499-35F111237D98}"/>
              </a:ext>
            </a:extLst>
          </p:cNvPr>
          <p:cNvSpPr txBox="1"/>
          <p:nvPr/>
        </p:nvSpPr>
        <p:spPr>
          <a:xfrm>
            <a:off x="4126073" y="6435253"/>
            <a:ext cx="7393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DBMS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112F2-8EB0-D80B-6D43-A67389459605}"/>
              </a:ext>
            </a:extLst>
          </p:cNvPr>
          <p:cNvSpPr txBox="1"/>
          <p:nvPr/>
        </p:nvSpPr>
        <p:spPr>
          <a:xfrm>
            <a:off x="4301888" y="597769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Files</a:t>
            </a:r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ACAC0-551F-46EB-27F8-413894E1A708}"/>
              </a:ext>
            </a:extLst>
          </p:cNvPr>
          <p:cNvSpPr txBox="1"/>
          <p:nvPr/>
        </p:nvSpPr>
        <p:spPr>
          <a:xfrm>
            <a:off x="4163807" y="6217409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Databases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FBCC6-4014-739A-F2E6-95056789EBCD}"/>
              </a:ext>
            </a:extLst>
          </p:cNvPr>
          <p:cNvSpPr txBox="1"/>
          <p:nvPr/>
        </p:nvSpPr>
        <p:spPr>
          <a:xfrm>
            <a:off x="3573361" y="5793318"/>
            <a:ext cx="412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data</a:t>
            </a:r>
            <a:endParaRPr lang="en-IN" sz="1100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D9F98337-463A-9524-9A34-F4610AC7B1E4}"/>
              </a:ext>
            </a:extLst>
          </p:cNvPr>
          <p:cNvCxnSpPr>
            <a:stCxn id="14" idx="0"/>
            <a:endCxn id="9" idx="0"/>
          </p:cNvCxnSpPr>
          <p:nvPr/>
        </p:nvCxnSpPr>
        <p:spPr>
          <a:xfrm rot="5400000" flipH="1" flipV="1">
            <a:off x="4137616" y="5435209"/>
            <a:ext cx="12700" cy="71621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AA55A9-5C3E-C89D-2822-4502D6555A3A}"/>
              </a:ext>
            </a:extLst>
          </p:cNvPr>
          <p:cNvSpPr txBox="1"/>
          <p:nvPr/>
        </p:nvSpPr>
        <p:spPr>
          <a:xfrm>
            <a:off x="4899834" y="4712568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Software</a:t>
            </a:r>
            <a:endParaRPr lang="en-IN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9E0A6-5E5A-FCC1-82D4-235DB2D703F3}"/>
              </a:ext>
            </a:extLst>
          </p:cNvPr>
          <p:cNvSpPr txBox="1"/>
          <p:nvPr/>
        </p:nvSpPr>
        <p:spPr>
          <a:xfrm>
            <a:off x="5483141" y="4962862"/>
            <a:ext cx="10711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+ Security</a:t>
            </a:r>
          </a:p>
          <a:p>
            <a:r>
              <a:rPr lang="en-GB" sz="1100" dirty="0"/>
              <a:t>+ Authorisation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687883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450DA-1E1E-8684-2F33-9E23A314C672}"/>
              </a:ext>
            </a:extLst>
          </p:cNvPr>
          <p:cNvSpPr txBox="1"/>
          <p:nvPr/>
        </p:nvSpPr>
        <p:spPr>
          <a:xfrm>
            <a:off x="4562670" y="858416"/>
            <a:ext cx="2028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u="sng" dirty="0"/>
              <a:t>Types of DBMS:</a:t>
            </a:r>
            <a:endParaRPr lang="en-IN" sz="20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F5063-90C4-A41C-D975-1DFDAAA5264C}"/>
              </a:ext>
            </a:extLst>
          </p:cNvPr>
          <p:cNvSpPr txBox="1"/>
          <p:nvPr/>
        </p:nvSpPr>
        <p:spPr>
          <a:xfrm>
            <a:off x="1884783" y="1744823"/>
            <a:ext cx="4021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HDBMS(hierarchy DBMS)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RDBMS(Relational DBMS)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NDBMS(Network DBMS)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OODBMS(Object oriented DBMS)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DF42BA-F30C-B17C-817E-99DA79E8B150}"/>
              </a:ext>
            </a:extLst>
          </p:cNvPr>
          <p:cNvSpPr txBox="1"/>
          <p:nvPr/>
        </p:nvSpPr>
        <p:spPr>
          <a:xfrm>
            <a:off x="1128485" y="3202776"/>
            <a:ext cx="8897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RDBMS</a:t>
            </a:r>
            <a:r>
              <a:rPr lang="en-GB" dirty="0"/>
              <a:t>: It stands for relational database management system. It is also used to maintain and manage data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31945E-C4D9-0790-6C37-2C7CA193BE19}"/>
              </a:ext>
            </a:extLst>
          </p:cNvPr>
          <p:cNvSpPr/>
          <p:nvPr/>
        </p:nvSpPr>
        <p:spPr>
          <a:xfrm>
            <a:off x="2887824" y="4167432"/>
            <a:ext cx="2015412" cy="15714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CFC959-6417-EF0F-503A-4D3C80C119CE}"/>
              </a:ext>
            </a:extLst>
          </p:cNvPr>
          <p:cNvSpPr/>
          <p:nvPr/>
        </p:nvSpPr>
        <p:spPr>
          <a:xfrm>
            <a:off x="3416557" y="4553868"/>
            <a:ext cx="1032588" cy="973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D97B0-BE2B-F90B-0CAF-F42F923825C3}"/>
              </a:ext>
            </a:extLst>
          </p:cNvPr>
          <p:cNvSpPr/>
          <p:nvPr/>
        </p:nvSpPr>
        <p:spPr>
          <a:xfrm>
            <a:off x="3687145" y="5040615"/>
            <a:ext cx="491412" cy="2363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726A3-F8AC-3BBA-0431-B475C783B9B4}"/>
              </a:ext>
            </a:extLst>
          </p:cNvPr>
          <p:cNvSpPr txBox="1"/>
          <p:nvPr/>
        </p:nvSpPr>
        <p:spPr>
          <a:xfrm>
            <a:off x="3739013" y="5224988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Tables</a:t>
            </a:r>
            <a:endParaRPr lang="en-IN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09AD4-F768-8C92-06F9-B444334BEEEE}"/>
              </a:ext>
            </a:extLst>
          </p:cNvPr>
          <p:cNvSpPr txBox="1"/>
          <p:nvPr/>
        </p:nvSpPr>
        <p:spPr>
          <a:xfrm>
            <a:off x="3600932" y="5464706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Databases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AE3421-C1A7-A66C-143E-7D60574F5559}"/>
              </a:ext>
            </a:extLst>
          </p:cNvPr>
          <p:cNvSpPr txBox="1"/>
          <p:nvPr/>
        </p:nvSpPr>
        <p:spPr>
          <a:xfrm>
            <a:off x="3010486" y="5040615"/>
            <a:ext cx="412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data</a:t>
            </a:r>
            <a:endParaRPr lang="en-IN" sz="1100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32FC554-D54E-3736-BA4C-4D6C6CB4A178}"/>
              </a:ext>
            </a:extLst>
          </p:cNvPr>
          <p:cNvCxnSpPr>
            <a:cxnSpLocks/>
            <a:stCxn id="18" idx="0"/>
            <a:endCxn id="15" idx="0"/>
          </p:cNvCxnSpPr>
          <p:nvPr/>
        </p:nvCxnSpPr>
        <p:spPr>
          <a:xfrm rot="5400000" flipH="1" flipV="1">
            <a:off x="3574741" y="4682506"/>
            <a:ext cx="12700" cy="71621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AB12F0-ADBB-E96E-DF17-70789493E6C5}"/>
              </a:ext>
            </a:extLst>
          </p:cNvPr>
          <p:cNvSpPr txBox="1"/>
          <p:nvPr/>
        </p:nvSpPr>
        <p:spPr>
          <a:xfrm>
            <a:off x="4896405" y="4163918"/>
            <a:ext cx="10711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+ Security</a:t>
            </a:r>
          </a:p>
          <a:p>
            <a:r>
              <a:rPr lang="en-GB" sz="1100" dirty="0"/>
              <a:t>+ Authorisation</a:t>
            </a:r>
            <a:endParaRPr lang="en-IN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39D048-3E7C-3456-CEFB-1316A23BFD10}"/>
              </a:ext>
            </a:extLst>
          </p:cNvPr>
          <p:cNvSpPr txBox="1"/>
          <p:nvPr/>
        </p:nvSpPr>
        <p:spPr>
          <a:xfrm>
            <a:off x="4328356" y="3950464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Software</a:t>
            </a:r>
            <a:endParaRPr lang="en-IN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FD402E-5903-9C7F-7103-73937408E248}"/>
              </a:ext>
            </a:extLst>
          </p:cNvPr>
          <p:cNvSpPr txBox="1"/>
          <p:nvPr/>
        </p:nvSpPr>
        <p:spPr>
          <a:xfrm>
            <a:off x="3415207" y="5718627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RDBMS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7069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1C183A-4549-5E5B-7549-7A12AF348A2A}"/>
              </a:ext>
            </a:extLst>
          </p:cNvPr>
          <p:cNvSpPr txBox="1"/>
          <p:nvPr/>
        </p:nvSpPr>
        <p:spPr>
          <a:xfrm>
            <a:off x="3769567" y="2976466"/>
            <a:ext cx="42932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66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415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280</TotalTime>
  <Words>698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Aptos Display</vt:lpstr>
      <vt:lpstr>Aptos Narrow</vt:lpstr>
      <vt:lpstr>Arial</vt:lpstr>
      <vt:lpstr>Calibri</vt:lpstr>
      <vt:lpstr>Californian FB</vt:lpstr>
      <vt:lpstr>Calisto MT</vt:lpstr>
      <vt:lpstr>Cambria</vt:lpstr>
      <vt:lpstr>Copperplate Gothic Bold</vt:lpstr>
      <vt:lpstr>Tw Cen MT</vt:lpstr>
      <vt:lpstr>Tw Cen MT Condensed</vt:lpstr>
      <vt:lpstr>Wingdings 3</vt:lpstr>
      <vt:lpstr>Integral</vt:lpstr>
      <vt:lpstr>ABHIVRIDDHHI INFO TECH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ABHIVRIDDHHI EDU TECH</dc:title>
  <dc:creator>ganesh kumar</dc:creator>
  <cp:lastModifiedBy>ganesh kumar</cp:lastModifiedBy>
  <cp:revision>3</cp:revision>
  <dcterms:created xsi:type="dcterms:W3CDTF">2024-02-02T15:25:44Z</dcterms:created>
  <dcterms:modified xsi:type="dcterms:W3CDTF">2024-02-03T05:54:14Z</dcterms:modified>
</cp:coreProperties>
</file>