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2" r:id="rId1"/>
  </p:sldMasterIdLst>
  <p:notesMasterIdLst>
    <p:notesMasterId r:id="rId21"/>
  </p:notesMasterIdLst>
  <p:sldIdLst>
    <p:sldId id="256" r:id="rId2"/>
    <p:sldId id="257" r:id="rId3"/>
    <p:sldId id="259" r:id="rId4"/>
    <p:sldId id="260" r:id="rId5"/>
    <p:sldId id="261" r:id="rId6"/>
    <p:sldId id="258" r:id="rId7"/>
    <p:sldId id="263" r:id="rId8"/>
    <p:sldId id="264" r:id="rId9"/>
    <p:sldId id="266" r:id="rId10"/>
    <p:sldId id="267" r:id="rId11"/>
    <p:sldId id="268" r:id="rId12"/>
    <p:sldId id="269" r:id="rId13"/>
    <p:sldId id="278" r:id="rId14"/>
    <p:sldId id="271" r:id="rId15"/>
    <p:sldId id="273" r:id="rId16"/>
    <p:sldId id="275" r:id="rId17"/>
    <p:sldId id="277" r:id="rId18"/>
    <p:sldId id="279"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4721B4-A9F0-499B-B38F-C03F21D1FF90}" type="datetimeFigureOut">
              <a:rPr lang="en-IN" smtClean="0"/>
              <a:t>19-05-2024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DBA8D6-EF70-4886-91F3-1FAEBBFAE1BC}" type="slidenum">
              <a:rPr lang="en-IN" smtClean="0"/>
              <a:t>‹#›</a:t>
            </a:fld>
            <a:endParaRPr lang="en-IN"/>
          </a:p>
        </p:txBody>
      </p:sp>
    </p:spTree>
    <p:extLst>
      <p:ext uri="{BB962C8B-B14F-4D97-AF65-F5344CB8AC3E}">
        <p14:creationId xmlns:p14="http://schemas.microsoft.com/office/powerpoint/2010/main" val="2111050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794021D-40C9-4E80-A464-5CE3563704B4}" type="datetimeFigureOut">
              <a:rPr lang="en-IN" smtClean="0"/>
              <a:t>19-05-2024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62C630-59D8-400D-A99B-59736B13DB3C}"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6852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94021D-40C9-4E80-A464-5CE3563704B4}" type="datetimeFigureOut">
              <a:rPr lang="en-IN" smtClean="0"/>
              <a:t>19-05-2024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62C630-59D8-400D-A99B-59736B13DB3C}" type="slidenum">
              <a:rPr lang="en-IN" smtClean="0"/>
              <a:t>‹#›</a:t>
            </a:fld>
            <a:endParaRPr lang="en-IN"/>
          </a:p>
        </p:txBody>
      </p:sp>
    </p:spTree>
    <p:extLst>
      <p:ext uri="{BB962C8B-B14F-4D97-AF65-F5344CB8AC3E}">
        <p14:creationId xmlns:p14="http://schemas.microsoft.com/office/powerpoint/2010/main" val="3373249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94021D-40C9-4E80-A464-5CE3563704B4}" type="datetimeFigureOut">
              <a:rPr lang="en-IN" smtClean="0"/>
              <a:t>19-05-2024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62C630-59D8-400D-A99B-59736B13DB3C}"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1180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94021D-40C9-4E80-A464-5CE3563704B4}" type="datetimeFigureOut">
              <a:rPr lang="en-IN" smtClean="0"/>
              <a:t>19-05-2024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62C630-59D8-400D-A99B-59736B13DB3C}" type="slidenum">
              <a:rPr lang="en-IN" smtClean="0"/>
              <a:t>‹#›</a:t>
            </a:fld>
            <a:endParaRPr lang="en-IN"/>
          </a:p>
        </p:txBody>
      </p:sp>
    </p:spTree>
    <p:extLst>
      <p:ext uri="{BB962C8B-B14F-4D97-AF65-F5344CB8AC3E}">
        <p14:creationId xmlns:p14="http://schemas.microsoft.com/office/powerpoint/2010/main" val="735195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94021D-40C9-4E80-A464-5CE3563704B4}" type="datetimeFigureOut">
              <a:rPr lang="en-IN" smtClean="0"/>
              <a:t>19-05-2024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62C630-59D8-400D-A99B-59736B13DB3C}" type="slidenum">
              <a:rPr lang="en-IN" smtClean="0"/>
              <a:t>‹#›</a:t>
            </a:fld>
            <a:endParaRPr lang="en-IN"/>
          </a:p>
        </p:txBody>
      </p:sp>
    </p:spTree>
    <p:extLst>
      <p:ext uri="{BB962C8B-B14F-4D97-AF65-F5344CB8AC3E}">
        <p14:creationId xmlns:p14="http://schemas.microsoft.com/office/powerpoint/2010/main" val="3427140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94021D-40C9-4E80-A464-5CE3563704B4}" type="datetimeFigureOut">
              <a:rPr lang="en-IN" smtClean="0"/>
              <a:t>19-05-2024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62C630-59D8-400D-A99B-59736B13DB3C}" type="slidenum">
              <a:rPr lang="en-IN" smtClean="0"/>
              <a:t>‹#›</a:t>
            </a:fld>
            <a:endParaRPr lang="en-IN"/>
          </a:p>
        </p:txBody>
      </p:sp>
    </p:spTree>
    <p:extLst>
      <p:ext uri="{BB962C8B-B14F-4D97-AF65-F5344CB8AC3E}">
        <p14:creationId xmlns:p14="http://schemas.microsoft.com/office/powerpoint/2010/main" val="1469541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94021D-40C9-4E80-A464-5CE3563704B4}" type="datetimeFigureOut">
              <a:rPr lang="en-IN" smtClean="0"/>
              <a:t>19-05-2024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62C630-59D8-400D-A99B-59736B13DB3C}" type="slidenum">
              <a:rPr lang="en-IN" smtClean="0"/>
              <a:t>‹#›</a:t>
            </a:fld>
            <a:endParaRPr lang="en-IN"/>
          </a:p>
        </p:txBody>
      </p:sp>
    </p:spTree>
    <p:extLst>
      <p:ext uri="{BB962C8B-B14F-4D97-AF65-F5344CB8AC3E}">
        <p14:creationId xmlns:p14="http://schemas.microsoft.com/office/powerpoint/2010/main" val="2878622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94021D-40C9-4E80-A464-5CE3563704B4}" type="datetimeFigureOut">
              <a:rPr lang="en-IN" smtClean="0"/>
              <a:t>19-05-2024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62C630-59D8-400D-A99B-59736B13DB3C}" type="slidenum">
              <a:rPr lang="en-IN" smtClean="0"/>
              <a:t>‹#›</a:t>
            </a:fld>
            <a:endParaRPr lang="en-IN"/>
          </a:p>
        </p:txBody>
      </p:sp>
    </p:spTree>
    <p:extLst>
      <p:ext uri="{BB962C8B-B14F-4D97-AF65-F5344CB8AC3E}">
        <p14:creationId xmlns:p14="http://schemas.microsoft.com/office/powerpoint/2010/main" val="227191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94021D-40C9-4E80-A464-5CE3563704B4}" type="datetimeFigureOut">
              <a:rPr lang="en-IN" smtClean="0"/>
              <a:t>19-05-2024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62C630-59D8-400D-A99B-59736B13DB3C}"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6994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94021D-40C9-4E80-A464-5CE3563704B4}" type="datetimeFigureOut">
              <a:rPr lang="en-IN" smtClean="0"/>
              <a:t>19-05-2024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62C630-59D8-400D-A99B-59736B13DB3C}" type="slidenum">
              <a:rPr lang="en-IN" smtClean="0"/>
              <a:t>‹#›</a:t>
            </a:fld>
            <a:endParaRPr lang="en-IN"/>
          </a:p>
        </p:txBody>
      </p:sp>
    </p:spTree>
    <p:extLst>
      <p:ext uri="{BB962C8B-B14F-4D97-AF65-F5344CB8AC3E}">
        <p14:creationId xmlns:p14="http://schemas.microsoft.com/office/powerpoint/2010/main" val="174786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94021D-40C9-4E80-A464-5CE3563704B4}" type="datetimeFigureOut">
              <a:rPr lang="en-IN" smtClean="0"/>
              <a:t>19-05-2024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62C630-59D8-400D-A99B-59736B13DB3C}"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944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794021D-40C9-4E80-A464-5CE3563704B4}" type="datetimeFigureOut">
              <a:rPr lang="en-IN" smtClean="0"/>
              <a:t>19-05-2024</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562C630-59D8-400D-A99B-59736B13DB3C}"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710832"/>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A13C9-C180-B621-8A55-4F78053E7D7D}"/>
              </a:ext>
            </a:extLst>
          </p:cNvPr>
          <p:cNvSpPr>
            <a:spLocks noGrp="1"/>
          </p:cNvSpPr>
          <p:nvPr>
            <p:ph type="ctrTitle"/>
          </p:nvPr>
        </p:nvSpPr>
        <p:spPr>
          <a:xfrm>
            <a:off x="307910" y="4978798"/>
            <a:ext cx="7865706" cy="1463040"/>
          </a:xfrm>
        </p:spPr>
        <p:txBody>
          <a:bodyPr>
            <a:normAutofit/>
          </a:bodyPr>
          <a:lstStyle/>
          <a:p>
            <a:r>
              <a:rPr lang="en-GB" sz="4800" dirty="0">
                <a:latin typeface="Calisto MT" panose="02040603050505030304" pitchFamily="18" charset="0"/>
              </a:rPr>
              <a:t>An overview of internship</a:t>
            </a:r>
            <a:endParaRPr lang="en-IN" sz="4800" dirty="0">
              <a:latin typeface="Calisto MT" panose="02040603050505030304" pitchFamily="18" charset="0"/>
            </a:endParaRPr>
          </a:p>
        </p:txBody>
      </p:sp>
    </p:spTree>
    <p:extLst>
      <p:ext uri="{BB962C8B-B14F-4D97-AF65-F5344CB8AC3E}">
        <p14:creationId xmlns:p14="http://schemas.microsoft.com/office/powerpoint/2010/main" val="642581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3D596A-7CFE-FEE8-8239-2D1F1BA815CA}"/>
              </a:ext>
            </a:extLst>
          </p:cNvPr>
          <p:cNvSpPr txBox="1"/>
          <p:nvPr/>
        </p:nvSpPr>
        <p:spPr>
          <a:xfrm>
            <a:off x="1063923" y="2162547"/>
            <a:ext cx="10064154" cy="3908762"/>
          </a:xfrm>
          <a:prstGeom prst="rect">
            <a:avLst/>
          </a:prstGeom>
          <a:noFill/>
        </p:spPr>
        <p:txBody>
          <a:bodyPr wrap="square" rtlCol="0">
            <a:spAutoFit/>
          </a:bodyPr>
          <a:lstStyle/>
          <a:p>
            <a:r>
              <a:rPr lang="en-IN" b="1" u="sng" dirty="0"/>
              <a:t>Company Name</a:t>
            </a:r>
            <a:r>
              <a:rPr lang="en-IN" dirty="0"/>
              <a:t>: </a:t>
            </a:r>
            <a:r>
              <a:rPr lang="en-IN" dirty="0" err="1"/>
              <a:t>Abhivriddhi</a:t>
            </a:r>
            <a:r>
              <a:rPr lang="en-IN" dirty="0"/>
              <a:t> Infotech.</a:t>
            </a:r>
          </a:p>
          <a:p>
            <a:endParaRPr lang="en-IN" dirty="0"/>
          </a:p>
          <a:p>
            <a:r>
              <a:rPr lang="en-US" b="1" u="sng" dirty="0"/>
              <a:t>Mission Statement</a:t>
            </a:r>
            <a:r>
              <a:rPr lang="en-US" dirty="0"/>
              <a:t>: Empowering businesses through innovative and effective web solutions that drive growth and success.</a:t>
            </a:r>
          </a:p>
          <a:p>
            <a:endParaRPr lang="en-US" dirty="0"/>
          </a:p>
          <a:p>
            <a:r>
              <a:rPr lang="en-US" b="1" u="sng" dirty="0"/>
              <a:t>Team</a:t>
            </a:r>
            <a:r>
              <a:rPr lang="en-US" dirty="0"/>
              <a:t>: Our team comprises skilled and experienced professionals, including: </a:t>
            </a:r>
          </a:p>
          <a:p>
            <a:endParaRPr lang="en-US" dirty="0"/>
          </a:p>
          <a:p>
            <a:r>
              <a:rPr lang="en-US" dirty="0"/>
              <a:t>• Web Developers </a:t>
            </a:r>
          </a:p>
          <a:p>
            <a:r>
              <a:rPr lang="en-US" dirty="0"/>
              <a:t>• UI/UX Designers</a:t>
            </a:r>
          </a:p>
          <a:p>
            <a:r>
              <a:rPr lang="en-US" dirty="0"/>
              <a:t>• Mobile App Developers </a:t>
            </a:r>
          </a:p>
          <a:p>
            <a:r>
              <a:rPr lang="en-US" dirty="0"/>
              <a:t>• Project Managers </a:t>
            </a:r>
          </a:p>
          <a:p>
            <a:r>
              <a:rPr lang="en-US" dirty="0"/>
              <a:t>• Quality Assurance Specialists </a:t>
            </a:r>
          </a:p>
          <a:p>
            <a:r>
              <a:rPr lang="en-US" dirty="0"/>
              <a:t>• Business Analysts</a:t>
            </a:r>
          </a:p>
          <a:p>
            <a:endParaRPr lang="en-IN" sz="1400" dirty="0"/>
          </a:p>
        </p:txBody>
      </p:sp>
      <p:sp>
        <p:nvSpPr>
          <p:cNvPr id="3" name="TextBox 2">
            <a:extLst>
              <a:ext uri="{FF2B5EF4-FFF2-40B4-BE49-F238E27FC236}">
                <a16:creationId xmlns:a16="http://schemas.microsoft.com/office/drawing/2014/main" id="{8EBFEEEF-B82D-F097-1F4C-C0EF21FB95AC}"/>
              </a:ext>
            </a:extLst>
          </p:cNvPr>
          <p:cNvSpPr txBox="1"/>
          <p:nvPr/>
        </p:nvSpPr>
        <p:spPr>
          <a:xfrm>
            <a:off x="2248678" y="1063690"/>
            <a:ext cx="5931432" cy="523220"/>
          </a:xfrm>
          <a:prstGeom prst="rect">
            <a:avLst/>
          </a:prstGeom>
          <a:noFill/>
        </p:spPr>
        <p:txBody>
          <a:bodyPr wrap="none" rtlCol="0">
            <a:spAutoFit/>
          </a:bodyPr>
          <a:lstStyle/>
          <a:p>
            <a:r>
              <a:rPr lang="en-IN" sz="2800" b="1" u="sng" dirty="0">
                <a:latin typeface="Cambria" panose="02040503050406030204" pitchFamily="18" charset="0"/>
                <a:ea typeface="Cambria" panose="02040503050406030204" pitchFamily="18" charset="0"/>
              </a:rPr>
              <a:t>OVERVIEW OF THE ORGANIZATION</a:t>
            </a:r>
          </a:p>
        </p:txBody>
      </p:sp>
    </p:spTree>
    <p:extLst>
      <p:ext uri="{BB962C8B-B14F-4D97-AF65-F5344CB8AC3E}">
        <p14:creationId xmlns:p14="http://schemas.microsoft.com/office/powerpoint/2010/main" val="936226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2185DF-AB3B-6733-67D1-5D60AD551B7C}"/>
              </a:ext>
            </a:extLst>
          </p:cNvPr>
          <p:cNvSpPr txBox="1"/>
          <p:nvPr/>
        </p:nvSpPr>
        <p:spPr>
          <a:xfrm>
            <a:off x="3834882" y="961054"/>
            <a:ext cx="4721290" cy="584775"/>
          </a:xfrm>
          <a:prstGeom prst="rect">
            <a:avLst/>
          </a:prstGeom>
          <a:noFill/>
        </p:spPr>
        <p:txBody>
          <a:bodyPr wrap="square" rtlCol="0">
            <a:spAutoFit/>
          </a:bodyPr>
          <a:lstStyle/>
          <a:p>
            <a:r>
              <a:rPr lang="en-IN" sz="3200" b="1" u="sng" dirty="0"/>
              <a:t>Vision and Mission</a:t>
            </a:r>
          </a:p>
        </p:txBody>
      </p:sp>
      <p:pic>
        <p:nvPicPr>
          <p:cNvPr id="4" name="Picture 3">
            <a:extLst>
              <a:ext uri="{FF2B5EF4-FFF2-40B4-BE49-F238E27FC236}">
                <a16:creationId xmlns:a16="http://schemas.microsoft.com/office/drawing/2014/main" id="{A06B87D4-2E2D-391C-CFAD-AD6F3655FC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45395" y="1978868"/>
            <a:ext cx="1450132" cy="1450132"/>
          </a:xfrm>
          <a:prstGeom prst="rect">
            <a:avLst/>
          </a:prstGeom>
        </p:spPr>
      </p:pic>
      <p:sp>
        <p:nvSpPr>
          <p:cNvPr id="5" name="TextBox 4">
            <a:extLst>
              <a:ext uri="{FF2B5EF4-FFF2-40B4-BE49-F238E27FC236}">
                <a16:creationId xmlns:a16="http://schemas.microsoft.com/office/drawing/2014/main" id="{B9960781-4205-1A40-3417-723644D86A47}"/>
              </a:ext>
            </a:extLst>
          </p:cNvPr>
          <p:cNvSpPr txBox="1"/>
          <p:nvPr/>
        </p:nvSpPr>
        <p:spPr>
          <a:xfrm>
            <a:off x="1968759" y="4067315"/>
            <a:ext cx="8089642" cy="1477328"/>
          </a:xfrm>
          <a:prstGeom prst="rect">
            <a:avLst/>
          </a:prstGeom>
          <a:noFill/>
        </p:spPr>
        <p:txBody>
          <a:bodyPr wrap="square" rtlCol="0">
            <a:spAutoFit/>
          </a:bodyPr>
          <a:lstStyle/>
          <a:p>
            <a:r>
              <a:rPr lang="en-US" dirty="0"/>
              <a:t>“To be a leading force in the digital landscape, pioneering innovative web solutions that transform businesses and enrich the online experience for users globally. We envision a future where our commitment to excellence and cutting-edge technology empowers organizations to thrive in the digital era. We aim to help youngsters with startup ideas &amp; act as a startup incubator to fuel their ideas.”</a:t>
            </a:r>
            <a:endParaRPr lang="en-IN" dirty="0"/>
          </a:p>
        </p:txBody>
      </p:sp>
      <p:sp>
        <p:nvSpPr>
          <p:cNvPr id="7" name="TextBox 6">
            <a:extLst>
              <a:ext uri="{FF2B5EF4-FFF2-40B4-BE49-F238E27FC236}">
                <a16:creationId xmlns:a16="http://schemas.microsoft.com/office/drawing/2014/main" id="{49F5A154-FB98-A454-357A-809B594762FF}"/>
              </a:ext>
            </a:extLst>
          </p:cNvPr>
          <p:cNvSpPr txBox="1"/>
          <p:nvPr/>
        </p:nvSpPr>
        <p:spPr>
          <a:xfrm>
            <a:off x="1371599" y="3531638"/>
            <a:ext cx="1595535" cy="400110"/>
          </a:xfrm>
          <a:prstGeom prst="rect">
            <a:avLst/>
          </a:prstGeom>
          <a:noFill/>
        </p:spPr>
        <p:txBody>
          <a:bodyPr wrap="square" rtlCol="0">
            <a:spAutoFit/>
          </a:bodyPr>
          <a:lstStyle/>
          <a:p>
            <a:r>
              <a:rPr lang="en-IN" sz="2000" b="1" u="sng" dirty="0"/>
              <a:t>Vision</a:t>
            </a:r>
            <a:r>
              <a:rPr lang="en-IN" b="1" dirty="0"/>
              <a:t>:</a:t>
            </a:r>
          </a:p>
        </p:txBody>
      </p:sp>
    </p:spTree>
    <p:extLst>
      <p:ext uri="{BB962C8B-B14F-4D97-AF65-F5344CB8AC3E}">
        <p14:creationId xmlns:p14="http://schemas.microsoft.com/office/powerpoint/2010/main" val="1930995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DCF290-F5DA-F053-2B07-025A8058DFB8}"/>
              </a:ext>
            </a:extLst>
          </p:cNvPr>
          <p:cNvSpPr txBox="1"/>
          <p:nvPr/>
        </p:nvSpPr>
        <p:spPr>
          <a:xfrm>
            <a:off x="1464906" y="3466322"/>
            <a:ext cx="1120820" cy="400110"/>
          </a:xfrm>
          <a:prstGeom prst="rect">
            <a:avLst/>
          </a:prstGeom>
          <a:noFill/>
        </p:spPr>
        <p:txBody>
          <a:bodyPr wrap="none" rtlCol="0">
            <a:spAutoFit/>
          </a:bodyPr>
          <a:lstStyle/>
          <a:p>
            <a:r>
              <a:rPr lang="en-IN" sz="2000" b="1" u="sng" dirty="0"/>
              <a:t>Mission</a:t>
            </a:r>
            <a:r>
              <a:rPr lang="en-IN" sz="2000" b="1" dirty="0"/>
              <a:t>:</a:t>
            </a:r>
          </a:p>
        </p:txBody>
      </p:sp>
      <p:pic>
        <p:nvPicPr>
          <p:cNvPr id="4" name="Picture 3">
            <a:extLst>
              <a:ext uri="{FF2B5EF4-FFF2-40B4-BE49-F238E27FC236}">
                <a16:creationId xmlns:a16="http://schemas.microsoft.com/office/drawing/2014/main" id="{C3B98569-D3CF-5E4B-16E7-AA919A8DD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9703" y="1440414"/>
            <a:ext cx="1686411" cy="1392825"/>
          </a:xfrm>
          <a:prstGeom prst="rect">
            <a:avLst/>
          </a:prstGeom>
        </p:spPr>
      </p:pic>
      <p:sp>
        <p:nvSpPr>
          <p:cNvPr id="5" name="TextBox 4">
            <a:extLst>
              <a:ext uri="{FF2B5EF4-FFF2-40B4-BE49-F238E27FC236}">
                <a16:creationId xmlns:a16="http://schemas.microsoft.com/office/drawing/2014/main" id="{806C4A90-7CD2-CAC5-D68E-1F542F0DCD01}"/>
              </a:ext>
            </a:extLst>
          </p:cNvPr>
          <p:cNvSpPr txBox="1"/>
          <p:nvPr/>
        </p:nvSpPr>
        <p:spPr>
          <a:xfrm>
            <a:off x="2025316" y="4198775"/>
            <a:ext cx="8210939" cy="1477328"/>
          </a:xfrm>
          <a:prstGeom prst="rect">
            <a:avLst/>
          </a:prstGeom>
          <a:noFill/>
        </p:spPr>
        <p:txBody>
          <a:bodyPr wrap="square" rtlCol="0">
            <a:spAutoFit/>
          </a:bodyPr>
          <a:lstStyle/>
          <a:p>
            <a:r>
              <a:rPr lang="en-US" dirty="0"/>
              <a:t>“At </a:t>
            </a:r>
            <a:r>
              <a:rPr lang="en-US" dirty="0" err="1"/>
              <a:t>Abhivriddhi</a:t>
            </a:r>
            <a:r>
              <a:rPr lang="en-US" dirty="0"/>
              <a:t>, our mission is to deliver tailored web development solutions that exceed client expectations. We are dedicated to leveraging our expertise in web technologies to create impactful, user-centric digital experiences. By fostering creativity, embracing challenges, and prioritizing client success, we aim to build lasting partnerships and contribute to the growth of businesses in an ever-evolving digital world.”</a:t>
            </a:r>
            <a:endParaRPr lang="en-IN" dirty="0"/>
          </a:p>
        </p:txBody>
      </p:sp>
    </p:spTree>
    <p:extLst>
      <p:ext uri="{BB962C8B-B14F-4D97-AF65-F5344CB8AC3E}">
        <p14:creationId xmlns:p14="http://schemas.microsoft.com/office/powerpoint/2010/main" val="2603062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339158-87D1-4DFA-65C0-11332ED9BDA0}"/>
              </a:ext>
            </a:extLst>
          </p:cNvPr>
          <p:cNvSpPr txBox="1"/>
          <p:nvPr/>
        </p:nvSpPr>
        <p:spPr>
          <a:xfrm>
            <a:off x="3408842" y="733372"/>
            <a:ext cx="4828758" cy="523220"/>
          </a:xfrm>
          <a:prstGeom prst="rect">
            <a:avLst/>
          </a:prstGeom>
          <a:noFill/>
        </p:spPr>
        <p:txBody>
          <a:bodyPr wrap="none" rtlCol="0">
            <a:spAutoFit/>
          </a:bodyPr>
          <a:lstStyle/>
          <a:p>
            <a:r>
              <a:rPr lang="en-IN" sz="2800" b="1" u="sng" dirty="0">
                <a:latin typeface="Cambria" panose="02040503050406030204" pitchFamily="18" charset="0"/>
                <a:ea typeface="Cambria" panose="02040503050406030204" pitchFamily="18" charset="0"/>
              </a:rPr>
              <a:t>ORGANIZATION STRUCTURE</a:t>
            </a:r>
          </a:p>
        </p:txBody>
      </p:sp>
      <p:pic>
        <p:nvPicPr>
          <p:cNvPr id="4" name="Picture 3">
            <a:extLst>
              <a:ext uri="{FF2B5EF4-FFF2-40B4-BE49-F238E27FC236}">
                <a16:creationId xmlns:a16="http://schemas.microsoft.com/office/drawing/2014/main" id="{0E619597-C3F1-66B6-4F25-44BD7C340A8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8396"/>
          <a:stretch/>
        </p:blipFill>
        <p:spPr>
          <a:xfrm>
            <a:off x="1811060" y="1699828"/>
            <a:ext cx="744605" cy="773009"/>
          </a:xfrm>
          <a:prstGeom prst="rect">
            <a:avLst/>
          </a:prstGeom>
        </p:spPr>
      </p:pic>
      <p:pic>
        <p:nvPicPr>
          <p:cNvPr id="6" name="Picture 5">
            <a:extLst>
              <a:ext uri="{FF2B5EF4-FFF2-40B4-BE49-F238E27FC236}">
                <a16:creationId xmlns:a16="http://schemas.microsoft.com/office/drawing/2014/main" id="{69F8F9EC-8889-FB85-0B7D-2880B2B453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1059" y="2854016"/>
            <a:ext cx="744605" cy="744605"/>
          </a:xfrm>
          <a:prstGeom prst="rect">
            <a:avLst/>
          </a:prstGeom>
        </p:spPr>
      </p:pic>
      <p:pic>
        <p:nvPicPr>
          <p:cNvPr id="7" name="Picture 6">
            <a:extLst>
              <a:ext uri="{FF2B5EF4-FFF2-40B4-BE49-F238E27FC236}">
                <a16:creationId xmlns:a16="http://schemas.microsoft.com/office/drawing/2014/main" id="{ED9915CD-0DED-23E0-EF0B-D4C187FA53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1058" y="3978115"/>
            <a:ext cx="744605" cy="744605"/>
          </a:xfrm>
          <a:prstGeom prst="rect">
            <a:avLst/>
          </a:prstGeom>
        </p:spPr>
      </p:pic>
      <p:pic>
        <p:nvPicPr>
          <p:cNvPr id="8" name="Picture 7">
            <a:extLst>
              <a:ext uri="{FF2B5EF4-FFF2-40B4-BE49-F238E27FC236}">
                <a16:creationId xmlns:a16="http://schemas.microsoft.com/office/drawing/2014/main" id="{121936B5-7A23-C918-1576-48222C6EDF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1057" y="5102214"/>
            <a:ext cx="744605" cy="744605"/>
          </a:xfrm>
          <a:prstGeom prst="rect">
            <a:avLst/>
          </a:prstGeom>
        </p:spPr>
      </p:pic>
      <p:pic>
        <p:nvPicPr>
          <p:cNvPr id="9" name="Picture 8">
            <a:extLst>
              <a:ext uri="{FF2B5EF4-FFF2-40B4-BE49-F238E27FC236}">
                <a16:creationId xmlns:a16="http://schemas.microsoft.com/office/drawing/2014/main" id="{0FE97E82-A7DB-0EA5-D6FD-46110BEE26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23220" y="2892265"/>
            <a:ext cx="744605" cy="744605"/>
          </a:xfrm>
          <a:prstGeom prst="rect">
            <a:avLst/>
          </a:prstGeom>
        </p:spPr>
      </p:pic>
      <p:pic>
        <p:nvPicPr>
          <p:cNvPr id="10" name="Picture 9">
            <a:extLst>
              <a:ext uri="{FF2B5EF4-FFF2-40B4-BE49-F238E27FC236}">
                <a16:creationId xmlns:a16="http://schemas.microsoft.com/office/drawing/2014/main" id="{3B82D749-0F24-796C-4C04-7B0390C2A8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23220" y="4006168"/>
            <a:ext cx="744605" cy="744605"/>
          </a:xfrm>
          <a:prstGeom prst="rect">
            <a:avLst/>
          </a:prstGeom>
        </p:spPr>
      </p:pic>
      <p:sp>
        <p:nvSpPr>
          <p:cNvPr id="13" name="Rectangle 12">
            <a:extLst>
              <a:ext uri="{FF2B5EF4-FFF2-40B4-BE49-F238E27FC236}">
                <a16:creationId xmlns:a16="http://schemas.microsoft.com/office/drawing/2014/main" id="{BEFDB8DA-DEED-2BBB-CC77-C26EBF337F52}"/>
              </a:ext>
            </a:extLst>
          </p:cNvPr>
          <p:cNvSpPr/>
          <p:nvPr/>
        </p:nvSpPr>
        <p:spPr>
          <a:xfrm>
            <a:off x="2844074" y="1665087"/>
            <a:ext cx="2800946" cy="84249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dirty="0">
                <a:solidFill>
                  <a:schemeClr val="tx1"/>
                </a:solidFill>
                <a:latin typeface="Aptos Display" panose="020B0004020202020204" pitchFamily="34" charset="0"/>
              </a:rPr>
              <a:t>         </a:t>
            </a:r>
            <a:r>
              <a:rPr lang="en-GB" sz="1400" b="1" dirty="0">
                <a:solidFill>
                  <a:schemeClr val="tx1"/>
                </a:solidFill>
                <a:latin typeface="Aptos Display" panose="020B0004020202020204" pitchFamily="34" charset="0"/>
              </a:rPr>
              <a:t>Abhilash Naidu G</a:t>
            </a:r>
          </a:p>
          <a:p>
            <a:r>
              <a:rPr lang="en-GB" sz="1200" dirty="0">
                <a:solidFill>
                  <a:schemeClr val="tx1"/>
                </a:solidFill>
                <a:latin typeface="Aptos Display" panose="020B0004020202020204" pitchFamily="34" charset="0"/>
              </a:rPr>
              <a:t>                    CEO</a:t>
            </a:r>
          </a:p>
          <a:p>
            <a:r>
              <a:rPr lang="en-GB" sz="1200" dirty="0">
                <a:solidFill>
                  <a:schemeClr val="tx1"/>
                </a:solidFill>
                <a:latin typeface="Aptos Display" panose="020B0004020202020204" pitchFamily="34" charset="0"/>
              </a:rPr>
              <a:t>     (Test Engineer &amp; SQL developer)</a:t>
            </a:r>
            <a:endParaRPr lang="en-IN" sz="1200" dirty="0">
              <a:solidFill>
                <a:schemeClr val="tx1"/>
              </a:solidFill>
              <a:latin typeface="Aptos Display" panose="020B0004020202020204" pitchFamily="34" charset="0"/>
            </a:endParaRPr>
          </a:p>
        </p:txBody>
      </p:sp>
      <p:sp>
        <p:nvSpPr>
          <p:cNvPr id="17" name="Rectangle 16">
            <a:extLst>
              <a:ext uri="{FF2B5EF4-FFF2-40B4-BE49-F238E27FC236}">
                <a16:creationId xmlns:a16="http://schemas.microsoft.com/office/drawing/2014/main" id="{653C2B88-854D-3DEF-56BC-3372CB85071C}"/>
              </a:ext>
            </a:extLst>
          </p:cNvPr>
          <p:cNvSpPr/>
          <p:nvPr/>
        </p:nvSpPr>
        <p:spPr>
          <a:xfrm>
            <a:off x="2844073" y="2843322"/>
            <a:ext cx="2203787" cy="84249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dirty="0">
                <a:solidFill>
                  <a:schemeClr val="tx1"/>
                </a:solidFill>
              </a:rPr>
              <a:t>         </a:t>
            </a:r>
            <a:r>
              <a:rPr lang="en-GB" sz="1400" b="1" dirty="0">
                <a:solidFill>
                  <a:schemeClr val="tx1"/>
                </a:solidFill>
                <a:latin typeface="Aptos Narrow" panose="020B0004020202020204" pitchFamily="34" charset="0"/>
              </a:rPr>
              <a:t>Sharath Kumar K</a:t>
            </a:r>
          </a:p>
          <a:p>
            <a:r>
              <a:rPr lang="en-GB" sz="1200" dirty="0">
                <a:solidFill>
                  <a:schemeClr val="tx1"/>
                </a:solidFill>
                <a:latin typeface="Aptos Narrow" panose="020B0004020202020204" pitchFamily="34" charset="0"/>
              </a:rPr>
              <a:t>    Content Creator &amp; Front End                             </a:t>
            </a:r>
          </a:p>
          <a:p>
            <a:r>
              <a:rPr lang="en-GB" sz="1200" dirty="0">
                <a:solidFill>
                  <a:schemeClr val="tx1"/>
                </a:solidFill>
                <a:latin typeface="Aptos Narrow" panose="020B0004020202020204" pitchFamily="34" charset="0"/>
              </a:rPr>
              <a:t>                   developer</a:t>
            </a:r>
          </a:p>
        </p:txBody>
      </p:sp>
      <p:sp>
        <p:nvSpPr>
          <p:cNvPr id="18" name="Rectangle 17">
            <a:extLst>
              <a:ext uri="{FF2B5EF4-FFF2-40B4-BE49-F238E27FC236}">
                <a16:creationId xmlns:a16="http://schemas.microsoft.com/office/drawing/2014/main" id="{09E6ED0A-E172-B9EE-E5AC-12FCCA839465}"/>
              </a:ext>
            </a:extLst>
          </p:cNvPr>
          <p:cNvSpPr/>
          <p:nvPr/>
        </p:nvSpPr>
        <p:spPr>
          <a:xfrm>
            <a:off x="2844072" y="3978115"/>
            <a:ext cx="2203787" cy="84249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dirty="0">
                <a:solidFill>
                  <a:schemeClr val="tx1"/>
                </a:solidFill>
                <a:latin typeface="Aptos Narrow" panose="020B0004020202020204" pitchFamily="34" charset="0"/>
              </a:rPr>
              <a:t>                    </a:t>
            </a:r>
            <a:r>
              <a:rPr lang="en-GB" sz="1400" b="1" dirty="0">
                <a:solidFill>
                  <a:schemeClr val="tx1"/>
                </a:solidFill>
                <a:latin typeface="Aptos Narrow" panose="020B0004020202020204" pitchFamily="34" charset="0"/>
              </a:rPr>
              <a:t>Manohara</a:t>
            </a:r>
          </a:p>
          <a:p>
            <a:r>
              <a:rPr lang="en-GB" sz="1200" dirty="0">
                <a:solidFill>
                  <a:schemeClr val="tx1"/>
                </a:solidFill>
                <a:latin typeface="Aptos Narrow" panose="020B0004020202020204" pitchFamily="34" charset="0"/>
              </a:rPr>
              <a:t>           Full Stack Developer</a:t>
            </a:r>
            <a:endParaRPr lang="en-IN" sz="1200" dirty="0">
              <a:solidFill>
                <a:schemeClr val="tx1"/>
              </a:solidFill>
              <a:latin typeface="Aptos Narrow" panose="020B0004020202020204" pitchFamily="34" charset="0"/>
            </a:endParaRPr>
          </a:p>
        </p:txBody>
      </p:sp>
      <p:sp>
        <p:nvSpPr>
          <p:cNvPr id="19" name="Rectangle 18">
            <a:extLst>
              <a:ext uri="{FF2B5EF4-FFF2-40B4-BE49-F238E27FC236}">
                <a16:creationId xmlns:a16="http://schemas.microsoft.com/office/drawing/2014/main" id="{BA3057FF-E5BC-697E-CEA9-46798985CF72}"/>
              </a:ext>
            </a:extLst>
          </p:cNvPr>
          <p:cNvSpPr/>
          <p:nvPr/>
        </p:nvSpPr>
        <p:spPr>
          <a:xfrm>
            <a:off x="2844073" y="5114379"/>
            <a:ext cx="2203787" cy="842493"/>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b="1" dirty="0">
                <a:solidFill>
                  <a:schemeClr val="tx1"/>
                </a:solidFill>
                <a:latin typeface="Aptos Narrow" panose="020B0004020202020204" pitchFamily="34" charset="0"/>
              </a:rPr>
              <a:t>                Shashidhar </a:t>
            </a:r>
          </a:p>
          <a:p>
            <a:r>
              <a:rPr lang="en-GB" sz="1400" b="1" dirty="0">
                <a:solidFill>
                  <a:schemeClr val="tx1"/>
                </a:solidFill>
                <a:latin typeface="Aptos Narrow" panose="020B0004020202020204" pitchFamily="34" charset="0"/>
              </a:rPr>
              <a:t>  </a:t>
            </a:r>
            <a:r>
              <a:rPr lang="en-GB" sz="1200" dirty="0">
                <a:solidFill>
                  <a:schemeClr val="tx1"/>
                </a:solidFill>
                <a:latin typeface="Aptos Narrow" panose="020B0004020202020204" pitchFamily="34" charset="0"/>
              </a:rPr>
              <a:t>Java back End Developer</a:t>
            </a:r>
            <a:endParaRPr lang="en-IN" sz="1200" dirty="0">
              <a:solidFill>
                <a:schemeClr val="tx1"/>
              </a:solidFill>
              <a:latin typeface="Aptos Narrow" panose="020B0004020202020204" pitchFamily="34" charset="0"/>
            </a:endParaRPr>
          </a:p>
        </p:txBody>
      </p:sp>
      <p:sp>
        <p:nvSpPr>
          <p:cNvPr id="20" name="Rectangle 19">
            <a:extLst>
              <a:ext uri="{FF2B5EF4-FFF2-40B4-BE49-F238E27FC236}">
                <a16:creationId xmlns:a16="http://schemas.microsoft.com/office/drawing/2014/main" id="{1FA8C36B-1C0F-ACB2-99A8-86D9E2A60F96}"/>
              </a:ext>
            </a:extLst>
          </p:cNvPr>
          <p:cNvSpPr/>
          <p:nvPr/>
        </p:nvSpPr>
        <p:spPr>
          <a:xfrm>
            <a:off x="6912219" y="2805070"/>
            <a:ext cx="2203787" cy="842493"/>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dirty="0">
                <a:solidFill>
                  <a:schemeClr val="tx1"/>
                </a:solidFill>
                <a:latin typeface="Aptos Display" panose="020B0004020202020204" pitchFamily="34" charset="0"/>
              </a:rPr>
              <a:t>         </a:t>
            </a:r>
            <a:r>
              <a:rPr lang="en-GB" sz="1400" b="1" dirty="0">
                <a:solidFill>
                  <a:schemeClr val="tx1"/>
                </a:solidFill>
                <a:latin typeface="Aptos Display" panose="020B0004020202020204" pitchFamily="34" charset="0"/>
              </a:rPr>
              <a:t>      Vignesh</a:t>
            </a:r>
          </a:p>
          <a:p>
            <a:r>
              <a:rPr lang="en-GB" sz="1200" dirty="0">
                <a:solidFill>
                  <a:schemeClr val="tx1"/>
                </a:solidFill>
                <a:latin typeface="Aptos Display" panose="020B0004020202020204" pitchFamily="34" charset="0"/>
              </a:rPr>
              <a:t>    Senior Spring Boot (java)   </a:t>
            </a:r>
          </a:p>
          <a:p>
            <a:r>
              <a:rPr lang="en-GB" sz="1200" dirty="0">
                <a:solidFill>
                  <a:schemeClr val="tx1"/>
                </a:solidFill>
                <a:latin typeface="Aptos Display" panose="020B0004020202020204" pitchFamily="34" charset="0"/>
              </a:rPr>
              <a:t>             Developer</a:t>
            </a:r>
          </a:p>
        </p:txBody>
      </p:sp>
      <p:sp>
        <p:nvSpPr>
          <p:cNvPr id="21" name="Rectangle 20">
            <a:extLst>
              <a:ext uri="{FF2B5EF4-FFF2-40B4-BE49-F238E27FC236}">
                <a16:creationId xmlns:a16="http://schemas.microsoft.com/office/drawing/2014/main" id="{C97F81BB-EC8A-0479-410E-EE14ABBD5A4C}"/>
              </a:ext>
            </a:extLst>
          </p:cNvPr>
          <p:cNvSpPr/>
          <p:nvPr/>
        </p:nvSpPr>
        <p:spPr>
          <a:xfrm>
            <a:off x="6912219" y="3978114"/>
            <a:ext cx="2203787" cy="842493"/>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b="1" dirty="0">
                <a:solidFill>
                  <a:schemeClr val="tx1"/>
                </a:solidFill>
                <a:latin typeface="Aptos Narrow" panose="020B0004020202020204" pitchFamily="34" charset="0"/>
              </a:rPr>
              <a:t>                     </a:t>
            </a:r>
            <a:r>
              <a:rPr lang="en-GB" sz="1400" b="1" dirty="0">
                <a:solidFill>
                  <a:schemeClr val="tx1"/>
                </a:solidFill>
                <a:latin typeface="Aptos Narrow" panose="020B0004020202020204" pitchFamily="34" charset="0"/>
              </a:rPr>
              <a:t>Arvind</a:t>
            </a:r>
          </a:p>
          <a:p>
            <a:r>
              <a:rPr lang="en-GB" sz="1200" dirty="0">
                <a:solidFill>
                  <a:schemeClr val="tx1"/>
                </a:solidFill>
                <a:latin typeface="Aptos Narrow" panose="020B0004020202020204" pitchFamily="34" charset="0"/>
              </a:rPr>
              <a:t>     Python Front End Developer</a:t>
            </a:r>
            <a:endParaRPr lang="en-IN" sz="1200" dirty="0">
              <a:solidFill>
                <a:schemeClr val="tx1"/>
              </a:solidFill>
              <a:latin typeface="Aptos Narrow" panose="020B0004020202020204" pitchFamily="34" charset="0"/>
            </a:endParaRPr>
          </a:p>
        </p:txBody>
      </p:sp>
      <p:sp>
        <p:nvSpPr>
          <p:cNvPr id="3" name="Rectangle 2">
            <a:extLst>
              <a:ext uri="{FF2B5EF4-FFF2-40B4-BE49-F238E27FC236}">
                <a16:creationId xmlns:a16="http://schemas.microsoft.com/office/drawing/2014/main" id="{E0EA4588-0ABC-5684-C972-D227E0D620F4}"/>
              </a:ext>
            </a:extLst>
          </p:cNvPr>
          <p:cNvSpPr/>
          <p:nvPr/>
        </p:nvSpPr>
        <p:spPr>
          <a:xfrm>
            <a:off x="1231640" y="1464906"/>
            <a:ext cx="8705461" cy="4659722"/>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56096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15C0DE-4CE5-4418-0AD3-480E19743223}"/>
              </a:ext>
            </a:extLst>
          </p:cNvPr>
          <p:cNvSpPr txBox="1"/>
          <p:nvPr/>
        </p:nvSpPr>
        <p:spPr>
          <a:xfrm>
            <a:off x="1558211" y="737115"/>
            <a:ext cx="8640148" cy="738664"/>
          </a:xfrm>
          <a:prstGeom prst="rect">
            <a:avLst/>
          </a:prstGeom>
          <a:noFill/>
        </p:spPr>
        <p:txBody>
          <a:bodyPr wrap="square" rtlCol="0">
            <a:spAutoFit/>
          </a:bodyPr>
          <a:lstStyle/>
          <a:p>
            <a:r>
              <a:rPr lang="en-IN" sz="2400" b="1" u="sng" dirty="0">
                <a:latin typeface="Cambria" panose="02040503050406030204" pitchFamily="18" charset="0"/>
                <a:ea typeface="Cambria" panose="02040503050406030204" pitchFamily="18" charset="0"/>
              </a:rPr>
              <a:t>Services Offered</a:t>
            </a:r>
            <a:r>
              <a:rPr lang="en-IN" sz="2400" b="1" dirty="0">
                <a:latin typeface="Cambria" panose="02040503050406030204" pitchFamily="18" charset="0"/>
                <a:ea typeface="Cambria" panose="02040503050406030204" pitchFamily="18" charset="0"/>
              </a:rPr>
              <a:t>:</a:t>
            </a:r>
          </a:p>
          <a:p>
            <a:endParaRPr lang="en-IN" sz="1800" dirty="0"/>
          </a:p>
        </p:txBody>
      </p:sp>
      <p:grpSp>
        <p:nvGrpSpPr>
          <p:cNvPr id="3" name="Group 2">
            <a:extLst>
              <a:ext uri="{FF2B5EF4-FFF2-40B4-BE49-F238E27FC236}">
                <a16:creationId xmlns:a16="http://schemas.microsoft.com/office/drawing/2014/main" id="{3F101060-A3F6-3B6E-C976-59C76AA062CA}"/>
              </a:ext>
            </a:extLst>
          </p:cNvPr>
          <p:cNvGrpSpPr>
            <a:grpSpLocks/>
          </p:cNvGrpSpPr>
          <p:nvPr/>
        </p:nvGrpSpPr>
        <p:grpSpPr bwMode="auto">
          <a:xfrm>
            <a:off x="3310147" y="1382472"/>
            <a:ext cx="5136275" cy="4981005"/>
            <a:chOff x="866" y="319"/>
            <a:chExt cx="10568" cy="10568"/>
          </a:xfrm>
        </p:grpSpPr>
        <p:pic>
          <p:nvPicPr>
            <p:cNvPr id="1027" name="Picture 3">
              <a:extLst>
                <a:ext uri="{FF2B5EF4-FFF2-40B4-BE49-F238E27FC236}">
                  <a16:creationId xmlns:a16="http://schemas.microsoft.com/office/drawing/2014/main" id="{56A188C2-6AC3-2D1B-8E92-85D041B7EA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1" y="334"/>
              <a:ext cx="10538" cy="1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a:extLst>
                <a:ext uri="{FF2B5EF4-FFF2-40B4-BE49-F238E27FC236}">
                  <a16:creationId xmlns:a16="http://schemas.microsoft.com/office/drawing/2014/main" id="{3BDABAEA-8200-EECF-7224-F5AC6212042B}"/>
                </a:ext>
              </a:extLst>
            </p:cNvPr>
            <p:cNvSpPr>
              <a:spLocks noChangeArrowheads="1"/>
            </p:cNvSpPr>
            <p:nvPr/>
          </p:nvSpPr>
          <p:spPr bwMode="auto">
            <a:xfrm>
              <a:off x="873" y="326"/>
              <a:ext cx="10553" cy="105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2064879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0B1894-67C0-F50A-AB84-697D18289CC6}"/>
              </a:ext>
            </a:extLst>
          </p:cNvPr>
          <p:cNvSpPr txBox="1"/>
          <p:nvPr/>
        </p:nvSpPr>
        <p:spPr>
          <a:xfrm>
            <a:off x="3713723" y="989045"/>
            <a:ext cx="4409990" cy="461665"/>
          </a:xfrm>
          <a:prstGeom prst="rect">
            <a:avLst/>
          </a:prstGeom>
          <a:noFill/>
        </p:spPr>
        <p:txBody>
          <a:bodyPr wrap="none" rtlCol="0">
            <a:spAutoFit/>
          </a:bodyPr>
          <a:lstStyle/>
          <a:p>
            <a:r>
              <a:rPr lang="en-GB" sz="2400" u="sng" dirty="0">
                <a:latin typeface="Copperplate Gothic Bold" panose="020E0705020206020404" pitchFamily="34" charset="0"/>
              </a:rPr>
              <a:t>Full Stack development</a:t>
            </a:r>
            <a:endParaRPr lang="en-IN" sz="2400" u="sng" dirty="0">
              <a:latin typeface="Copperplate Gothic Bold" panose="020E0705020206020404" pitchFamily="34" charset="0"/>
            </a:endParaRPr>
          </a:p>
        </p:txBody>
      </p:sp>
      <p:sp>
        <p:nvSpPr>
          <p:cNvPr id="3" name="TextBox 2">
            <a:extLst>
              <a:ext uri="{FF2B5EF4-FFF2-40B4-BE49-F238E27FC236}">
                <a16:creationId xmlns:a16="http://schemas.microsoft.com/office/drawing/2014/main" id="{CEBA43ED-6853-0953-38F1-28799E77B4F7}"/>
              </a:ext>
            </a:extLst>
          </p:cNvPr>
          <p:cNvSpPr txBox="1"/>
          <p:nvPr/>
        </p:nvSpPr>
        <p:spPr>
          <a:xfrm>
            <a:off x="1315616" y="1819470"/>
            <a:ext cx="874727" cy="369332"/>
          </a:xfrm>
          <a:prstGeom prst="rect">
            <a:avLst/>
          </a:prstGeom>
          <a:noFill/>
        </p:spPr>
        <p:txBody>
          <a:bodyPr wrap="none" rtlCol="0">
            <a:spAutoFit/>
          </a:bodyPr>
          <a:lstStyle/>
          <a:p>
            <a:r>
              <a:rPr lang="en-GB" b="1" u="sng" dirty="0">
                <a:latin typeface="Aptos Display" panose="020B0004020202020204" pitchFamily="34" charset="0"/>
              </a:rPr>
              <a:t>Topics:</a:t>
            </a:r>
            <a:endParaRPr lang="en-IN" b="1" u="sng" dirty="0">
              <a:latin typeface="Aptos Display" panose="020B0004020202020204" pitchFamily="34" charset="0"/>
            </a:endParaRPr>
          </a:p>
        </p:txBody>
      </p:sp>
      <p:sp>
        <p:nvSpPr>
          <p:cNvPr id="5" name="TextBox 4">
            <a:extLst>
              <a:ext uri="{FF2B5EF4-FFF2-40B4-BE49-F238E27FC236}">
                <a16:creationId xmlns:a16="http://schemas.microsoft.com/office/drawing/2014/main" id="{FFF8199F-5C34-8C75-720C-97150DE34BDB}"/>
              </a:ext>
            </a:extLst>
          </p:cNvPr>
          <p:cNvSpPr txBox="1"/>
          <p:nvPr/>
        </p:nvSpPr>
        <p:spPr>
          <a:xfrm>
            <a:off x="2099388" y="2188802"/>
            <a:ext cx="5159828" cy="3139321"/>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GB" dirty="0"/>
              <a:t>Introduction to Front-end, Back-end, Database.</a:t>
            </a:r>
          </a:p>
          <a:p>
            <a:pPr marL="285750" indent="-285750">
              <a:lnSpc>
                <a:spcPct val="250000"/>
              </a:lnSpc>
              <a:buFont typeface="Arial" panose="020B0604020202020204" pitchFamily="34" charset="0"/>
              <a:buChar char="•"/>
            </a:pPr>
            <a:r>
              <a:rPr lang="en-GB" dirty="0"/>
              <a:t>Front-end languages(HTML, CSS, JS).</a:t>
            </a:r>
          </a:p>
          <a:p>
            <a:pPr marL="285750" indent="-285750">
              <a:lnSpc>
                <a:spcPct val="250000"/>
              </a:lnSpc>
              <a:buFont typeface="Arial" panose="020B0604020202020204" pitchFamily="34" charset="0"/>
              <a:buChar char="•"/>
            </a:pPr>
            <a:r>
              <a:rPr lang="en-GB" dirty="0"/>
              <a:t>Back-end languages(Java).</a:t>
            </a:r>
          </a:p>
          <a:p>
            <a:pPr marL="285750" indent="-285750">
              <a:lnSpc>
                <a:spcPct val="250000"/>
              </a:lnSpc>
              <a:buFont typeface="Arial" panose="020B0604020202020204" pitchFamily="34" charset="0"/>
              <a:buChar char="•"/>
            </a:pPr>
            <a:r>
              <a:rPr lang="en-GB" dirty="0"/>
              <a:t>Database languages(</a:t>
            </a:r>
            <a:r>
              <a:rPr lang="en-GB" dirty="0" err="1"/>
              <a:t>MySql</a:t>
            </a:r>
            <a:r>
              <a:rPr lang="en-GB" dirty="0"/>
              <a:t>).</a:t>
            </a:r>
          </a:p>
          <a:p>
            <a:endParaRPr lang="en-IN" dirty="0"/>
          </a:p>
        </p:txBody>
      </p:sp>
    </p:spTree>
    <p:extLst>
      <p:ext uri="{BB962C8B-B14F-4D97-AF65-F5344CB8AC3E}">
        <p14:creationId xmlns:p14="http://schemas.microsoft.com/office/powerpoint/2010/main" val="1299522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A1AAE4-9B40-6759-4C63-20935DA24614}"/>
              </a:ext>
            </a:extLst>
          </p:cNvPr>
          <p:cNvSpPr txBox="1"/>
          <p:nvPr/>
        </p:nvSpPr>
        <p:spPr>
          <a:xfrm>
            <a:off x="3191069" y="877078"/>
            <a:ext cx="4948791" cy="461665"/>
          </a:xfrm>
          <a:prstGeom prst="rect">
            <a:avLst/>
          </a:prstGeom>
          <a:noFill/>
        </p:spPr>
        <p:txBody>
          <a:bodyPr wrap="none" rtlCol="0">
            <a:spAutoFit/>
          </a:bodyPr>
          <a:lstStyle/>
          <a:p>
            <a:r>
              <a:rPr lang="en-GB" sz="2400" b="1" u="sng" dirty="0">
                <a:latin typeface="Californian FB" panose="0207040306080B030204" pitchFamily="18" charset="0"/>
              </a:rPr>
              <a:t>Introduction to front-end languages</a:t>
            </a:r>
            <a:endParaRPr lang="en-IN" sz="2400" b="1" u="sng" dirty="0">
              <a:latin typeface="Californian FB" panose="0207040306080B030204" pitchFamily="18" charset="0"/>
            </a:endParaRPr>
          </a:p>
        </p:txBody>
      </p:sp>
      <p:sp>
        <p:nvSpPr>
          <p:cNvPr id="3" name="TextBox 2">
            <a:extLst>
              <a:ext uri="{FF2B5EF4-FFF2-40B4-BE49-F238E27FC236}">
                <a16:creationId xmlns:a16="http://schemas.microsoft.com/office/drawing/2014/main" id="{84EB13FC-22E0-5B9B-B28B-D34E7F69307F}"/>
              </a:ext>
            </a:extLst>
          </p:cNvPr>
          <p:cNvSpPr txBox="1"/>
          <p:nvPr/>
        </p:nvSpPr>
        <p:spPr>
          <a:xfrm>
            <a:off x="1492897" y="1986075"/>
            <a:ext cx="7985953" cy="3000821"/>
          </a:xfrm>
          <a:prstGeom prst="rect">
            <a:avLst/>
          </a:prstGeom>
          <a:noFill/>
        </p:spPr>
        <p:txBody>
          <a:bodyPr wrap="square" rtlCol="0">
            <a:spAutoFit/>
          </a:bodyPr>
          <a:lstStyle/>
          <a:p>
            <a:pPr>
              <a:lnSpc>
                <a:spcPct val="150000"/>
              </a:lnSpc>
            </a:pPr>
            <a:r>
              <a:rPr lang="en-GB" b="1" u="sng" dirty="0">
                <a:latin typeface="Cambria" panose="02040503050406030204" pitchFamily="18" charset="0"/>
                <a:ea typeface="Cambria" panose="02040503050406030204" pitchFamily="18" charset="0"/>
              </a:rPr>
              <a:t>HTML</a:t>
            </a:r>
            <a:r>
              <a:rPr lang="en-GB" b="1" dirty="0"/>
              <a:t>: </a:t>
            </a:r>
            <a:r>
              <a:rPr lang="en-GB" dirty="0"/>
              <a:t>It stands for hyper text markup language. It used to create structure or building blocks of the website.</a:t>
            </a:r>
          </a:p>
          <a:p>
            <a:pPr>
              <a:lnSpc>
                <a:spcPct val="150000"/>
              </a:lnSpc>
            </a:pPr>
            <a:r>
              <a:rPr lang="en-GB" b="1" u="sng" dirty="0">
                <a:latin typeface="Cambria" panose="02040503050406030204" pitchFamily="18" charset="0"/>
                <a:ea typeface="Cambria" panose="02040503050406030204" pitchFamily="18" charset="0"/>
              </a:rPr>
              <a:t>CSS</a:t>
            </a:r>
            <a:r>
              <a:rPr lang="en-GB" b="1" dirty="0"/>
              <a:t>: </a:t>
            </a:r>
            <a:r>
              <a:rPr lang="en-GB" dirty="0"/>
              <a:t>It stands for cascading style sheets. It used to create design in the webpage and make website more attractive.</a:t>
            </a:r>
          </a:p>
          <a:p>
            <a:pPr>
              <a:lnSpc>
                <a:spcPct val="150000"/>
              </a:lnSpc>
            </a:pPr>
            <a:r>
              <a:rPr lang="en-GB" b="1" u="sng" dirty="0">
                <a:latin typeface="Cambria" panose="02040503050406030204" pitchFamily="18" charset="0"/>
                <a:ea typeface="Cambria" panose="02040503050406030204" pitchFamily="18" charset="0"/>
              </a:rPr>
              <a:t>JS</a:t>
            </a:r>
            <a:r>
              <a:rPr lang="en-GB" b="1" dirty="0"/>
              <a:t>: </a:t>
            </a:r>
            <a:r>
              <a:rPr lang="en-GB" dirty="0"/>
              <a:t>It stands for Java Script. it is a Scripting language &amp; it is used to add functionality </a:t>
            </a:r>
          </a:p>
          <a:p>
            <a:pPr>
              <a:lnSpc>
                <a:spcPct val="150000"/>
              </a:lnSpc>
            </a:pPr>
            <a:r>
              <a:rPr lang="en-GB" dirty="0"/>
              <a:t>to the webpage.</a:t>
            </a:r>
          </a:p>
          <a:p>
            <a:pPr>
              <a:lnSpc>
                <a:spcPct val="150000"/>
              </a:lnSpc>
            </a:pPr>
            <a:r>
              <a:rPr lang="en-GB" dirty="0"/>
              <a:t> </a:t>
            </a:r>
            <a:endParaRPr lang="en-IN" dirty="0"/>
          </a:p>
        </p:txBody>
      </p:sp>
    </p:spTree>
    <p:extLst>
      <p:ext uri="{BB962C8B-B14F-4D97-AF65-F5344CB8AC3E}">
        <p14:creationId xmlns:p14="http://schemas.microsoft.com/office/powerpoint/2010/main" val="408774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50653C-DDA4-5231-659C-E92878B92DB3}"/>
              </a:ext>
            </a:extLst>
          </p:cNvPr>
          <p:cNvSpPr txBox="1"/>
          <p:nvPr/>
        </p:nvSpPr>
        <p:spPr>
          <a:xfrm>
            <a:off x="3512953" y="951722"/>
            <a:ext cx="5166094" cy="461665"/>
          </a:xfrm>
          <a:prstGeom prst="rect">
            <a:avLst/>
          </a:prstGeom>
          <a:noFill/>
        </p:spPr>
        <p:txBody>
          <a:bodyPr wrap="none" rtlCol="0">
            <a:spAutoFit/>
          </a:bodyPr>
          <a:lstStyle/>
          <a:p>
            <a:r>
              <a:rPr lang="en-GB" sz="2400" b="1" u="sng" dirty="0">
                <a:latin typeface="Cambria" panose="02040503050406030204" pitchFamily="18" charset="0"/>
                <a:ea typeface="Cambria" panose="02040503050406030204" pitchFamily="18" charset="0"/>
              </a:rPr>
              <a:t>Introduction to Back-end language</a:t>
            </a:r>
            <a:r>
              <a:rPr lang="en-GB" sz="2400" b="1" dirty="0">
                <a:latin typeface="Cambria" panose="02040503050406030204" pitchFamily="18" charset="0"/>
                <a:ea typeface="Cambria" panose="02040503050406030204" pitchFamily="18" charset="0"/>
              </a:rPr>
              <a:t>:</a:t>
            </a:r>
            <a:endParaRPr lang="en-IN" sz="2400" b="1"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C5E3EE0F-21BB-B1E2-D7DC-77FBB2AEC58B}"/>
              </a:ext>
            </a:extLst>
          </p:cNvPr>
          <p:cNvSpPr txBox="1"/>
          <p:nvPr/>
        </p:nvSpPr>
        <p:spPr>
          <a:xfrm>
            <a:off x="1869232" y="2150506"/>
            <a:ext cx="8453535" cy="972254"/>
          </a:xfrm>
          <a:prstGeom prst="rect">
            <a:avLst/>
          </a:prstGeom>
          <a:noFill/>
        </p:spPr>
        <p:txBody>
          <a:bodyPr wrap="square" rtlCol="0">
            <a:spAutoFit/>
          </a:bodyPr>
          <a:lstStyle/>
          <a:p>
            <a:pPr>
              <a:lnSpc>
                <a:spcPct val="150000"/>
              </a:lnSpc>
            </a:pPr>
            <a:r>
              <a:rPr lang="en-GB" sz="2000" b="1" dirty="0">
                <a:latin typeface="Cambria" panose="02040503050406030204" pitchFamily="18" charset="0"/>
                <a:ea typeface="Cambria" panose="02040503050406030204" pitchFamily="18" charset="0"/>
              </a:rPr>
              <a:t>Java</a:t>
            </a:r>
            <a:r>
              <a:rPr lang="en-GB" sz="2000" b="1" dirty="0"/>
              <a:t>: </a:t>
            </a:r>
            <a:r>
              <a:rPr lang="en-GB" sz="2000" dirty="0"/>
              <a:t>java is high-level programming language &amp; it is statically typed, functionally typed, object oriented &amp; it is both compiled and interpreter language.</a:t>
            </a:r>
            <a:endParaRPr lang="en-IN" sz="2000" dirty="0"/>
          </a:p>
        </p:txBody>
      </p:sp>
      <p:pic>
        <p:nvPicPr>
          <p:cNvPr id="5" name="Picture 4">
            <a:extLst>
              <a:ext uri="{FF2B5EF4-FFF2-40B4-BE49-F238E27FC236}">
                <a16:creationId xmlns:a16="http://schemas.microsoft.com/office/drawing/2014/main" id="{59F325A3-1010-DE1D-0BB1-A444C645A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7090" y="3859879"/>
            <a:ext cx="2466975" cy="1612492"/>
          </a:xfrm>
          <a:prstGeom prst="rect">
            <a:avLst/>
          </a:prstGeom>
        </p:spPr>
      </p:pic>
    </p:spTree>
    <p:extLst>
      <p:ext uri="{BB962C8B-B14F-4D97-AF65-F5344CB8AC3E}">
        <p14:creationId xmlns:p14="http://schemas.microsoft.com/office/powerpoint/2010/main" val="2076794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21ACAA-124D-881C-AB60-BF651A810C3A}"/>
              </a:ext>
            </a:extLst>
          </p:cNvPr>
          <p:cNvSpPr txBox="1"/>
          <p:nvPr/>
        </p:nvSpPr>
        <p:spPr>
          <a:xfrm>
            <a:off x="1754875" y="632509"/>
            <a:ext cx="8682249" cy="523220"/>
          </a:xfrm>
          <a:prstGeom prst="rect">
            <a:avLst/>
          </a:prstGeom>
          <a:noFill/>
        </p:spPr>
        <p:txBody>
          <a:bodyPr wrap="none" rtlCol="0">
            <a:spAutoFit/>
          </a:bodyPr>
          <a:lstStyle/>
          <a:p>
            <a:r>
              <a:rPr lang="en-GB" sz="2800" b="1" dirty="0"/>
              <a:t>Difference Between programming &amp; scripting language</a:t>
            </a:r>
            <a:endParaRPr lang="en-IN" sz="2800" b="1" dirty="0"/>
          </a:p>
        </p:txBody>
      </p:sp>
      <p:sp>
        <p:nvSpPr>
          <p:cNvPr id="3" name="TextBox 2">
            <a:extLst>
              <a:ext uri="{FF2B5EF4-FFF2-40B4-BE49-F238E27FC236}">
                <a16:creationId xmlns:a16="http://schemas.microsoft.com/office/drawing/2014/main" id="{D8C146F7-68B6-DC0B-8156-3C14C7AA2591}"/>
              </a:ext>
            </a:extLst>
          </p:cNvPr>
          <p:cNvSpPr txBox="1"/>
          <p:nvPr/>
        </p:nvSpPr>
        <p:spPr>
          <a:xfrm>
            <a:off x="1912775" y="1482665"/>
            <a:ext cx="4068147" cy="5909310"/>
          </a:xfrm>
          <a:prstGeom prst="rect">
            <a:avLst/>
          </a:prstGeom>
          <a:noFill/>
        </p:spPr>
        <p:txBody>
          <a:bodyPr wrap="square" rtlCol="0">
            <a:spAutoFit/>
          </a:bodyPr>
          <a:lstStyle/>
          <a:p>
            <a:r>
              <a:rPr lang="en-GB" b="1" u="sng" dirty="0"/>
              <a:t>Programming language</a:t>
            </a:r>
            <a:r>
              <a:rPr lang="en-GB" dirty="0"/>
              <a:t>                                                                    </a:t>
            </a:r>
            <a:endParaRPr lang="en-GB" b="1" u="sng" dirty="0"/>
          </a:p>
          <a:p>
            <a:endParaRPr lang="en-GB" dirty="0"/>
          </a:p>
          <a:p>
            <a:endParaRPr lang="en-GB" dirty="0"/>
          </a:p>
          <a:p>
            <a:endParaRPr lang="en-GB" dirty="0"/>
          </a:p>
          <a:p>
            <a:r>
              <a:rPr lang="en-GB" dirty="0"/>
              <a:t>   </a:t>
            </a:r>
          </a:p>
          <a:p>
            <a:endParaRPr lang="en-GB" dirty="0"/>
          </a:p>
          <a:p>
            <a:endParaRPr lang="en-GB" dirty="0"/>
          </a:p>
          <a:p>
            <a:endParaRPr lang="en-GB" dirty="0"/>
          </a:p>
          <a:p>
            <a:pPr marL="285750" indent="-285750">
              <a:buFont typeface="Arial" panose="020B0604020202020204" pitchFamily="34" charset="0"/>
              <a:buChar char="•"/>
            </a:pPr>
            <a:r>
              <a:rPr lang="en-GB" sz="1600" dirty="0"/>
              <a:t>It is compiler based language.                                      </a:t>
            </a:r>
          </a:p>
          <a:p>
            <a:pPr marL="285750" indent="-285750">
              <a:buFont typeface="Arial" panose="020B0604020202020204" pitchFamily="34" charset="0"/>
              <a:buChar char="•"/>
            </a:pPr>
            <a:r>
              <a:rPr lang="en-GB" sz="1600" dirty="0"/>
              <a:t>It takes all lines of code at a time for                           </a:t>
            </a:r>
          </a:p>
          <a:p>
            <a:r>
              <a:rPr lang="en-GB" sz="1600" dirty="0"/>
              <a:t>     Execution if there is no error in any line</a:t>
            </a:r>
          </a:p>
          <a:p>
            <a:r>
              <a:rPr lang="en-GB" sz="1600" dirty="0"/>
              <a:t>     it executes or if any error in any line it </a:t>
            </a:r>
          </a:p>
          <a:p>
            <a:r>
              <a:rPr lang="en-GB" sz="1600" dirty="0"/>
              <a:t>      will terminate the whole code.</a:t>
            </a:r>
          </a:p>
          <a:p>
            <a:pPr marL="285750" indent="-285750">
              <a:buFont typeface="Arial" panose="020B0604020202020204" pitchFamily="34" charset="0"/>
              <a:buChar char="•"/>
            </a:pPr>
            <a:r>
              <a:rPr lang="en-GB" sz="1600" dirty="0"/>
              <a:t>It multi threaded programming language.</a:t>
            </a:r>
          </a:p>
          <a:p>
            <a:pPr marL="285750" indent="-285750">
              <a:buFont typeface="Arial" panose="020B0604020202020204" pitchFamily="34" charset="0"/>
              <a:buChar char="•"/>
            </a:pPr>
            <a:r>
              <a:rPr lang="en-GB" sz="1600" dirty="0"/>
              <a:t>It is statically typed language.</a:t>
            </a:r>
          </a:p>
          <a:p>
            <a:pPr marL="285750" indent="-285750">
              <a:buFont typeface="Arial" panose="020B0604020202020204" pitchFamily="34" charset="0"/>
              <a:buChar char="•"/>
            </a:pPr>
            <a:r>
              <a:rPr lang="en-GB" sz="1600" dirty="0"/>
              <a:t>It is client side programming language.</a:t>
            </a:r>
          </a:p>
          <a:p>
            <a:r>
              <a:rPr lang="en-GB" sz="1600" dirty="0"/>
              <a:t>Ex:- Java, C, C++ etc.</a:t>
            </a:r>
          </a:p>
          <a:p>
            <a:endParaRPr lang="en-GB" dirty="0"/>
          </a:p>
          <a:p>
            <a:endParaRPr lang="en-GB" dirty="0"/>
          </a:p>
          <a:p>
            <a:endParaRPr lang="en-GB" dirty="0"/>
          </a:p>
          <a:p>
            <a:endParaRPr lang="en-GB" dirty="0"/>
          </a:p>
          <a:p>
            <a:endParaRPr lang="en-IN" dirty="0"/>
          </a:p>
        </p:txBody>
      </p:sp>
      <p:sp>
        <p:nvSpPr>
          <p:cNvPr id="4" name="TextBox 3">
            <a:extLst>
              <a:ext uri="{FF2B5EF4-FFF2-40B4-BE49-F238E27FC236}">
                <a16:creationId xmlns:a16="http://schemas.microsoft.com/office/drawing/2014/main" id="{42D630FF-01D2-FCE2-A6FF-B0149B0B31D7}"/>
              </a:ext>
            </a:extLst>
          </p:cNvPr>
          <p:cNvSpPr txBox="1"/>
          <p:nvPr/>
        </p:nvSpPr>
        <p:spPr>
          <a:xfrm>
            <a:off x="6104606" y="1482665"/>
            <a:ext cx="4821968" cy="5047536"/>
          </a:xfrm>
          <a:prstGeom prst="rect">
            <a:avLst/>
          </a:prstGeom>
          <a:noFill/>
        </p:spPr>
        <p:txBody>
          <a:bodyPr wrap="square" rtlCol="0">
            <a:spAutoFit/>
          </a:bodyPr>
          <a:lstStyle/>
          <a:p>
            <a:r>
              <a:rPr lang="en-GB" b="1" u="sng" dirty="0"/>
              <a:t>Scripting language</a:t>
            </a:r>
          </a:p>
          <a:p>
            <a:r>
              <a:rPr lang="en-GB" b="1" u="sng" dirty="0"/>
              <a:t> </a:t>
            </a:r>
          </a:p>
          <a:p>
            <a:endParaRPr lang="en-GB" b="1" u="sng" dirty="0"/>
          </a:p>
          <a:p>
            <a:endParaRPr lang="en-GB" b="1" u="sng" dirty="0"/>
          </a:p>
          <a:p>
            <a:endParaRPr lang="en-GB" b="1" u="sng" dirty="0"/>
          </a:p>
          <a:p>
            <a:endParaRPr lang="en-GB" b="1" u="sng" dirty="0"/>
          </a:p>
          <a:p>
            <a:endParaRPr lang="en-GB" b="1" u="sng" dirty="0"/>
          </a:p>
          <a:p>
            <a:endParaRPr lang="en-GB" b="1" u="sng" dirty="0"/>
          </a:p>
          <a:p>
            <a:pPr marL="285750" indent="-285750">
              <a:buFont typeface="Arial" panose="020B0604020202020204" pitchFamily="34" charset="0"/>
              <a:buChar char="•"/>
            </a:pPr>
            <a:r>
              <a:rPr lang="en-GB" sz="1600" dirty="0"/>
              <a:t>It is interpreter based language.</a:t>
            </a:r>
          </a:p>
          <a:p>
            <a:pPr marL="285750" indent="-285750">
              <a:buFont typeface="Arial" panose="020B0604020202020204" pitchFamily="34" charset="0"/>
              <a:buChar char="•"/>
            </a:pPr>
            <a:r>
              <a:rPr lang="en-GB" sz="1600" dirty="0"/>
              <a:t>It takes the code line by line for the execution </a:t>
            </a:r>
          </a:p>
          <a:p>
            <a:r>
              <a:rPr lang="en-GB" sz="1600" dirty="0"/>
              <a:t>if there is no error all lines are executed or if there is any error in any line it will stop the execution from that line.</a:t>
            </a:r>
          </a:p>
          <a:p>
            <a:pPr marL="285750" indent="-285750">
              <a:buFont typeface="Arial" panose="020B0604020202020204" pitchFamily="34" charset="0"/>
              <a:buChar char="•"/>
            </a:pPr>
            <a:r>
              <a:rPr lang="en-GB" sz="1600" dirty="0"/>
              <a:t>It is single threaded programming language.</a:t>
            </a:r>
          </a:p>
          <a:p>
            <a:pPr marL="285750" indent="-285750">
              <a:buFont typeface="Arial" panose="020B0604020202020204" pitchFamily="34" charset="0"/>
              <a:buChar char="•"/>
            </a:pPr>
            <a:r>
              <a:rPr lang="en-GB" sz="1600" dirty="0"/>
              <a:t>It is dynamically typed language.</a:t>
            </a:r>
          </a:p>
          <a:p>
            <a:pPr marL="285750" indent="-285750">
              <a:buFont typeface="Arial" panose="020B0604020202020204" pitchFamily="34" charset="0"/>
              <a:buChar char="•"/>
            </a:pPr>
            <a:r>
              <a:rPr lang="en-GB" sz="1600" dirty="0"/>
              <a:t>It is both client &amp; server sided programing language.</a:t>
            </a:r>
          </a:p>
          <a:p>
            <a:r>
              <a:rPr lang="en-GB" sz="1600" dirty="0"/>
              <a:t>Ex:- Python, JavaScript, </a:t>
            </a:r>
            <a:r>
              <a:rPr lang="en-GB" sz="1600" dirty="0" err="1"/>
              <a:t>Php</a:t>
            </a:r>
            <a:r>
              <a:rPr lang="en-GB" sz="1600" dirty="0"/>
              <a:t>, etc.</a:t>
            </a:r>
          </a:p>
          <a:p>
            <a:endParaRPr lang="en-GB" sz="1600" b="1" u="sng" dirty="0"/>
          </a:p>
          <a:p>
            <a:endParaRPr lang="en-IN" b="1" u="sng" dirty="0"/>
          </a:p>
        </p:txBody>
      </p:sp>
      <p:sp>
        <p:nvSpPr>
          <p:cNvPr id="5" name="Rectangle 4">
            <a:extLst>
              <a:ext uri="{FF2B5EF4-FFF2-40B4-BE49-F238E27FC236}">
                <a16:creationId xmlns:a16="http://schemas.microsoft.com/office/drawing/2014/main" id="{AA28EDC2-8C4A-06D0-D194-F514449FB717}"/>
              </a:ext>
            </a:extLst>
          </p:cNvPr>
          <p:cNvSpPr/>
          <p:nvPr/>
        </p:nvSpPr>
        <p:spPr>
          <a:xfrm>
            <a:off x="1754875" y="1376199"/>
            <a:ext cx="9094541" cy="47664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F1C66065-56F6-86F7-4116-333D51136CBB}"/>
              </a:ext>
            </a:extLst>
          </p:cNvPr>
          <p:cNvCxnSpPr/>
          <p:nvPr/>
        </p:nvCxnSpPr>
        <p:spPr>
          <a:xfrm>
            <a:off x="5980922" y="1376199"/>
            <a:ext cx="0" cy="4766424"/>
          </a:xfrm>
          <a:prstGeom prst="line">
            <a:avLst/>
          </a:prstGeom>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5807BE2D-F4CD-3723-AD9A-B0E90FE3A686}"/>
              </a:ext>
            </a:extLst>
          </p:cNvPr>
          <p:cNvSpPr/>
          <p:nvPr/>
        </p:nvSpPr>
        <p:spPr>
          <a:xfrm>
            <a:off x="2127380" y="1978090"/>
            <a:ext cx="597159" cy="12876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4A6E473E-5A09-6A9A-DEF0-46665F971D4E}"/>
              </a:ext>
            </a:extLst>
          </p:cNvPr>
          <p:cNvSpPr/>
          <p:nvPr/>
        </p:nvSpPr>
        <p:spPr>
          <a:xfrm>
            <a:off x="3041780" y="2491273"/>
            <a:ext cx="503853" cy="4012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F871EA23-83D9-8E60-1643-A0039400E8E2}"/>
              </a:ext>
            </a:extLst>
          </p:cNvPr>
          <p:cNvSpPr/>
          <p:nvPr/>
        </p:nvSpPr>
        <p:spPr>
          <a:xfrm>
            <a:off x="3778898" y="2276669"/>
            <a:ext cx="821094" cy="8770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7992AD94-4B44-8F19-1159-B02025FB1460}"/>
              </a:ext>
            </a:extLst>
          </p:cNvPr>
          <p:cNvSpPr/>
          <p:nvPr/>
        </p:nvSpPr>
        <p:spPr>
          <a:xfrm>
            <a:off x="4926563" y="2425959"/>
            <a:ext cx="774441" cy="4665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id="{F8054F65-D775-6091-0912-31592EB8DB16}"/>
              </a:ext>
            </a:extLst>
          </p:cNvPr>
          <p:cNvCxnSpPr>
            <a:stCxn id="8" idx="3"/>
          </p:cNvCxnSpPr>
          <p:nvPr/>
        </p:nvCxnSpPr>
        <p:spPr>
          <a:xfrm>
            <a:off x="2724539" y="2621902"/>
            <a:ext cx="326571" cy="9331"/>
          </a:xfrm>
          <a:prstGeom prst="line">
            <a:avLst/>
          </a:prstGeom>
          <a:ln/>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7861A351-6024-E12E-D38A-6C21740B1B22}"/>
              </a:ext>
            </a:extLst>
          </p:cNvPr>
          <p:cNvCxnSpPr>
            <a:endCxn id="10" idx="1"/>
          </p:cNvCxnSpPr>
          <p:nvPr/>
        </p:nvCxnSpPr>
        <p:spPr>
          <a:xfrm>
            <a:off x="3545633" y="2707670"/>
            <a:ext cx="233265" cy="7538"/>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74048C10-6478-063E-329C-01CC43028817}"/>
              </a:ext>
            </a:extLst>
          </p:cNvPr>
          <p:cNvCxnSpPr>
            <a:cxnSpLocks/>
          </p:cNvCxnSpPr>
          <p:nvPr/>
        </p:nvCxnSpPr>
        <p:spPr>
          <a:xfrm flipV="1">
            <a:off x="4608601" y="2705878"/>
            <a:ext cx="326571" cy="55983"/>
          </a:xfrm>
          <a:prstGeom prst="line">
            <a:avLst/>
          </a:prstGeom>
        </p:spPr>
        <p:style>
          <a:lnRef idx="2">
            <a:schemeClr val="dk1"/>
          </a:lnRef>
          <a:fillRef idx="0">
            <a:schemeClr val="dk1"/>
          </a:fillRef>
          <a:effectRef idx="1">
            <a:schemeClr val="dk1"/>
          </a:effectRef>
          <a:fontRef idx="minor">
            <a:schemeClr val="tx1"/>
          </a:fontRef>
        </p:style>
      </p:cxnSp>
      <p:sp>
        <p:nvSpPr>
          <p:cNvPr id="18" name="Isosceles Triangle 17">
            <a:extLst>
              <a:ext uri="{FF2B5EF4-FFF2-40B4-BE49-F238E27FC236}">
                <a16:creationId xmlns:a16="http://schemas.microsoft.com/office/drawing/2014/main" id="{B554D33F-6966-AF03-F432-0BF85000727F}"/>
              </a:ext>
            </a:extLst>
          </p:cNvPr>
          <p:cNvSpPr/>
          <p:nvPr/>
        </p:nvSpPr>
        <p:spPr>
          <a:xfrm>
            <a:off x="5134353" y="2892490"/>
            <a:ext cx="387221" cy="251926"/>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A6F0D1C4-3259-DF4F-2A46-A36C3DE165B4}"/>
              </a:ext>
            </a:extLst>
          </p:cNvPr>
          <p:cNvCxnSpPr>
            <a:cxnSpLocks/>
          </p:cNvCxnSpPr>
          <p:nvPr/>
        </p:nvCxnSpPr>
        <p:spPr>
          <a:xfrm>
            <a:off x="2248678" y="2192694"/>
            <a:ext cx="321546"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86282DC0-2AD7-25E1-83C9-F3432F933B09}"/>
              </a:ext>
            </a:extLst>
          </p:cNvPr>
          <p:cNvCxnSpPr>
            <a:cxnSpLocks/>
          </p:cNvCxnSpPr>
          <p:nvPr/>
        </p:nvCxnSpPr>
        <p:spPr>
          <a:xfrm>
            <a:off x="2240305" y="2621902"/>
            <a:ext cx="321546" cy="0"/>
          </a:xfrm>
          <a:prstGeom prst="line">
            <a:avLst/>
          </a:prstGeom>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69F5A13F-DB6E-756E-C409-1011E2D1AA66}"/>
              </a:ext>
            </a:extLst>
          </p:cNvPr>
          <p:cNvCxnSpPr>
            <a:cxnSpLocks/>
          </p:cNvCxnSpPr>
          <p:nvPr/>
        </p:nvCxnSpPr>
        <p:spPr>
          <a:xfrm>
            <a:off x="2248678" y="2401077"/>
            <a:ext cx="321546" cy="0"/>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1B86C438-222E-3AAB-147A-61F652751F7D}"/>
              </a:ext>
            </a:extLst>
          </p:cNvPr>
          <p:cNvCxnSpPr>
            <a:cxnSpLocks/>
          </p:cNvCxnSpPr>
          <p:nvPr/>
        </p:nvCxnSpPr>
        <p:spPr>
          <a:xfrm>
            <a:off x="2265186" y="2491273"/>
            <a:ext cx="321546" cy="0"/>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2F3ADBF5-E555-E815-B5E2-ED49D54B9B17}"/>
              </a:ext>
            </a:extLst>
          </p:cNvPr>
          <p:cNvCxnSpPr>
            <a:cxnSpLocks/>
          </p:cNvCxnSpPr>
          <p:nvPr/>
        </p:nvCxnSpPr>
        <p:spPr>
          <a:xfrm>
            <a:off x="2265186" y="2326432"/>
            <a:ext cx="321546" cy="0"/>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DEA8492A-28FC-BB8C-1587-C5F07A4D8AEC}"/>
              </a:ext>
            </a:extLst>
          </p:cNvPr>
          <p:cNvCxnSpPr>
            <a:cxnSpLocks/>
          </p:cNvCxnSpPr>
          <p:nvPr/>
        </p:nvCxnSpPr>
        <p:spPr>
          <a:xfrm>
            <a:off x="2240305" y="2715208"/>
            <a:ext cx="321546" cy="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4DF029D1-ABA7-8AF1-F948-29819F1C1F04}"/>
              </a:ext>
            </a:extLst>
          </p:cNvPr>
          <p:cNvCxnSpPr>
            <a:cxnSpLocks/>
          </p:cNvCxnSpPr>
          <p:nvPr/>
        </p:nvCxnSpPr>
        <p:spPr>
          <a:xfrm>
            <a:off x="2265186" y="2783633"/>
            <a:ext cx="321546" cy="0"/>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A0A40E40-A5CA-6E9B-E7C4-3B7302FEF4D2}"/>
              </a:ext>
            </a:extLst>
          </p:cNvPr>
          <p:cNvCxnSpPr/>
          <p:nvPr/>
        </p:nvCxnSpPr>
        <p:spPr>
          <a:xfrm flipV="1">
            <a:off x="3293706" y="2192694"/>
            <a:ext cx="0" cy="2985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C6970EAD-6681-017B-9FDC-BD463B700F9D}"/>
              </a:ext>
            </a:extLst>
          </p:cNvPr>
          <p:cNvCxnSpPr>
            <a:stCxn id="10" idx="0"/>
          </p:cNvCxnSpPr>
          <p:nvPr/>
        </p:nvCxnSpPr>
        <p:spPr>
          <a:xfrm flipV="1">
            <a:off x="4189445" y="1978090"/>
            <a:ext cx="0" cy="2985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65684FB3-AFEA-3A13-57D0-50F6E23A84D3}"/>
              </a:ext>
            </a:extLst>
          </p:cNvPr>
          <p:cNvSpPr txBox="1"/>
          <p:nvPr/>
        </p:nvSpPr>
        <p:spPr>
          <a:xfrm>
            <a:off x="3855058" y="1758048"/>
            <a:ext cx="760144" cy="246221"/>
          </a:xfrm>
          <a:prstGeom prst="rect">
            <a:avLst/>
          </a:prstGeom>
          <a:noFill/>
        </p:spPr>
        <p:txBody>
          <a:bodyPr wrap="none" rtlCol="0">
            <a:spAutoFit/>
          </a:bodyPr>
          <a:lstStyle/>
          <a:p>
            <a:r>
              <a:rPr lang="en-GB" sz="1000" b="1" dirty="0"/>
              <a:t>interpreter</a:t>
            </a:r>
            <a:endParaRPr lang="en-IN" sz="1000" b="1" dirty="0"/>
          </a:p>
        </p:txBody>
      </p:sp>
      <p:sp>
        <p:nvSpPr>
          <p:cNvPr id="41" name="TextBox 40">
            <a:extLst>
              <a:ext uri="{FF2B5EF4-FFF2-40B4-BE49-F238E27FC236}">
                <a16:creationId xmlns:a16="http://schemas.microsoft.com/office/drawing/2014/main" id="{0D86C07F-EA86-730E-40EB-BEF5B24B7157}"/>
              </a:ext>
            </a:extLst>
          </p:cNvPr>
          <p:cNvSpPr txBox="1"/>
          <p:nvPr/>
        </p:nvSpPr>
        <p:spPr>
          <a:xfrm>
            <a:off x="2993492" y="1972652"/>
            <a:ext cx="668773" cy="246221"/>
          </a:xfrm>
          <a:prstGeom prst="rect">
            <a:avLst/>
          </a:prstGeom>
          <a:noFill/>
        </p:spPr>
        <p:txBody>
          <a:bodyPr wrap="none" rtlCol="0">
            <a:spAutoFit/>
          </a:bodyPr>
          <a:lstStyle/>
          <a:p>
            <a:r>
              <a:rPr lang="en-GB" sz="1000" b="1" dirty="0"/>
              <a:t>compiler</a:t>
            </a:r>
            <a:endParaRPr lang="en-IN" sz="1000" b="1" dirty="0"/>
          </a:p>
        </p:txBody>
      </p:sp>
      <p:sp>
        <p:nvSpPr>
          <p:cNvPr id="42" name="TextBox 41">
            <a:extLst>
              <a:ext uri="{FF2B5EF4-FFF2-40B4-BE49-F238E27FC236}">
                <a16:creationId xmlns:a16="http://schemas.microsoft.com/office/drawing/2014/main" id="{B0BA6BCB-08B5-7859-8F3D-454C072B1019}"/>
              </a:ext>
            </a:extLst>
          </p:cNvPr>
          <p:cNvSpPr txBox="1"/>
          <p:nvPr/>
        </p:nvSpPr>
        <p:spPr>
          <a:xfrm>
            <a:off x="2149095" y="1752276"/>
            <a:ext cx="354584" cy="246221"/>
          </a:xfrm>
          <a:prstGeom prst="rect">
            <a:avLst/>
          </a:prstGeom>
          <a:noFill/>
        </p:spPr>
        <p:txBody>
          <a:bodyPr wrap="none" rtlCol="0">
            <a:spAutoFit/>
          </a:bodyPr>
          <a:lstStyle/>
          <a:p>
            <a:r>
              <a:rPr lang="en-GB" sz="1000" b="1" dirty="0"/>
              <a:t>file</a:t>
            </a:r>
            <a:endParaRPr lang="en-IN" sz="1000" b="1" dirty="0"/>
          </a:p>
        </p:txBody>
      </p:sp>
      <p:sp>
        <p:nvSpPr>
          <p:cNvPr id="43" name="TextBox 42">
            <a:extLst>
              <a:ext uri="{FF2B5EF4-FFF2-40B4-BE49-F238E27FC236}">
                <a16:creationId xmlns:a16="http://schemas.microsoft.com/office/drawing/2014/main" id="{0EC3D782-24C5-97AB-31AE-C0598E365C1B}"/>
              </a:ext>
            </a:extLst>
          </p:cNvPr>
          <p:cNvSpPr txBox="1"/>
          <p:nvPr/>
        </p:nvSpPr>
        <p:spPr>
          <a:xfrm>
            <a:off x="4972495" y="2486222"/>
            <a:ext cx="543739" cy="246221"/>
          </a:xfrm>
          <a:prstGeom prst="rect">
            <a:avLst/>
          </a:prstGeom>
          <a:noFill/>
        </p:spPr>
        <p:txBody>
          <a:bodyPr wrap="none" rtlCol="0">
            <a:spAutoFit/>
          </a:bodyPr>
          <a:lstStyle/>
          <a:p>
            <a:r>
              <a:rPr lang="en-GB" sz="1000" b="1" dirty="0"/>
              <a:t>output</a:t>
            </a:r>
            <a:endParaRPr lang="en-IN" sz="1000" b="1" dirty="0"/>
          </a:p>
        </p:txBody>
      </p:sp>
      <p:sp>
        <p:nvSpPr>
          <p:cNvPr id="44" name="Rectangle 43">
            <a:extLst>
              <a:ext uri="{FF2B5EF4-FFF2-40B4-BE49-F238E27FC236}">
                <a16:creationId xmlns:a16="http://schemas.microsoft.com/office/drawing/2014/main" id="{27FD34B0-4FDA-14BA-81A1-2643BB74CF4D}"/>
              </a:ext>
            </a:extLst>
          </p:cNvPr>
          <p:cNvSpPr/>
          <p:nvPr/>
        </p:nvSpPr>
        <p:spPr>
          <a:xfrm>
            <a:off x="6519331" y="1972251"/>
            <a:ext cx="671804" cy="11552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E4CECBDF-DCE4-6FCB-3D0E-E4F36BFEEE3E}"/>
              </a:ext>
            </a:extLst>
          </p:cNvPr>
          <p:cNvSpPr/>
          <p:nvPr/>
        </p:nvSpPr>
        <p:spPr>
          <a:xfrm>
            <a:off x="7595118" y="2237662"/>
            <a:ext cx="807966" cy="7433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0F6099C1-47D4-CF4E-FC8A-17F48FDA3F23}"/>
              </a:ext>
            </a:extLst>
          </p:cNvPr>
          <p:cNvSpPr/>
          <p:nvPr/>
        </p:nvSpPr>
        <p:spPr>
          <a:xfrm>
            <a:off x="8883825" y="2326432"/>
            <a:ext cx="807966" cy="4572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Isosceles Triangle 46">
            <a:extLst>
              <a:ext uri="{FF2B5EF4-FFF2-40B4-BE49-F238E27FC236}">
                <a16:creationId xmlns:a16="http://schemas.microsoft.com/office/drawing/2014/main" id="{BED58D39-FAEB-6DC7-8FD8-4F19B7570B7C}"/>
              </a:ext>
            </a:extLst>
          </p:cNvPr>
          <p:cNvSpPr/>
          <p:nvPr/>
        </p:nvSpPr>
        <p:spPr>
          <a:xfrm>
            <a:off x="9089831" y="2797790"/>
            <a:ext cx="395954" cy="227045"/>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9" name="Straight Connector 48">
            <a:extLst>
              <a:ext uri="{FF2B5EF4-FFF2-40B4-BE49-F238E27FC236}">
                <a16:creationId xmlns:a16="http://schemas.microsoft.com/office/drawing/2014/main" id="{253160C7-56E7-AA2A-81FC-B0D99CBE339C}"/>
              </a:ext>
            </a:extLst>
          </p:cNvPr>
          <p:cNvCxnSpPr>
            <a:stCxn id="44" idx="3"/>
            <a:endCxn id="45" idx="1"/>
          </p:cNvCxnSpPr>
          <p:nvPr/>
        </p:nvCxnSpPr>
        <p:spPr>
          <a:xfrm>
            <a:off x="7191135" y="2549876"/>
            <a:ext cx="403983" cy="59456"/>
          </a:xfrm>
          <a:prstGeom prst="line">
            <a:avLst/>
          </a:prstGeom>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FFBBF36F-3907-D173-8CE7-AAF96E5268E4}"/>
              </a:ext>
            </a:extLst>
          </p:cNvPr>
          <p:cNvCxnSpPr>
            <a:stCxn id="45" idx="3"/>
            <a:endCxn id="46" idx="1"/>
          </p:cNvCxnSpPr>
          <p:nvPr/>
        </p:nvCxnSpPr>
        <p:spPr>
          <a:xfrm flipV="1">
            <a:off x="8403084" y="2555033"/>
            <a:ext cx="480741" cy="54299"/>
          </a:xfrm>
          <a:prstGeom prst="line">
            <a:avLst/>
          </a:prstGeom>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E9162231-77E2-0E87-DBE1-0E38B127168A}"/>
              </a:ext>
            </a:extLst>
          </p:cNvPr>
          <p:cNvCxnSpPr/>
          <p:nvPr/>
        </p:nvCxnSpPr>
        <p:spPr>
          <a:xfrm>
            <a:off x="6695790" y="2192694"/>
            <a:ext cx="380406" cy="0"/>
          </a:xfrm>
          <a:prstGeom prst="line">
            <a:avLst/>
          </a:prstGeom>
        </p:spPr>
        <p:style>
          <a:lnRef idx="2">
            <a:schemeClr val="dk1"/>
          </a:lnRef>
          <a:fillRef idx="0">
            <a:schemeClr val="dk1"/>
          </a:fillRef>
          <a:effectRef idx="1">
            <a:schemeClr val="dk1"/>
          </a:effectRef>
          <a:fontRef idx="minor">
            <a:schemeClr val="tx1"/>
          </a:fontRef>
        </p:style>
      </p:cxnSp>
      <p:cxnSp>
        <p:nvCxnSpPr>
          <p:cNvPr id="54" name="Straight Connector 53">
            <a:extLst>
              <a:ext uri="{FF2B5EF4-FFF2-40B4-BE49-F238E27FC236}">
                <a16:creationId xmlns:a16="http://schemas.microsoft.com/office/drawing/2014/main" id="{73686CE9-349F-F84E-4385-6BA6501397E4}"/>
              </a:ext>
            </a:extLst>
          </p:cNvPr>
          <p:cNvCxnSpPr/>
          <p:nvPr/>
        </p:nvCxnSpPr>
        <p:spPr>
          <a:xfrm>
            <a:off x="6695790" y="2276669"/>
            <a:ext cx="380406" cy="0"/>
          </a:xfrm>
          <a:prstGeom prst="line">
            <a:avLst/>
          </a:prstGeom>
        </p:spPr>
        <p:style>
          <a:lnRef idx="2">
            <a:schemeClr val="dk1"/>
          </a:lnRef>
          <a:fillRef idx="0">
            <a:schemeClr val="dk1"/>
          </a:fillRef>
          <a:effectRef idx="1">
            <a:schemeClr val="dk1"/>
          </a:effectRef>
          <a:fontRef idx="minor">
            <a:schemeClr val="tx1"/>
          </a:fontRef>
        </p:style>
      </p:cxnSp>
      <p:cxnSp>
        <p:nvCxnSpPr>
          <p:cNvPr id="55" name="Straight Connector 54">
            <a:extLst>
              <a:ext uri="{FF2B5EF4-FFF2-40B4-BE49-F238E27FC236}">
                <a16:creationId xmlns:a16="http://schemas.microsoft.com/office/drawing/2014/main" id="{BEF73F9C-083F-886C-0BFC-BA6EC52265F2}"/>
              </a:ext>
            </a:extLst>
          </p:cNvPr>
          <p:cNvCxnSpPr/>
          <p:nvPr/>
        </p:nvCxnSpPr>
        <p:spPr>
          <a:xfrm>
            <a:off x="6695790" y="2401077"/>
            <a:ext cx="380406" cy="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1D2F464F-651D-782F-C4C6-5A63B52FA9EB}"/>
              </a:ext>
            </a:extLst>
          </p:cNvPr>
          <p:cNvCxnSpPr/>
          <p:nvPr/>
        </p:nvCxnSpPr>
        <p:spPr>
          <a:xfrm>
            <a:off x="6695790" y="2486222"/>
            <a:ext cx="380406" cy="0"/>
          </a:xfrm>
          <a:prstGeom prst="line">
            <a:avLst/>
          </a:prstGeom>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F7E61839-B663-33F0-1BAF-E0723301026A}"/>
              </a:ext>
            </a:extLst>
          </p:cNvPr>
          <p:cNvCxnSpPr/>
          <p:nvPr/>
        </p:nvCxnSpPr>
        <p:spPr>
          <a:xfrm>
            <a:off x="6695790" y="2609330"/>
            <a:ext cx="380406" cy="0"/>
          </a:xfrm>
          <a:prstGeom prst="line">
            <a:avLst/>
          </a:prstGeom>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D481682E-0A52-59A4-5B89-9C616D82F29F}"/>
              </a:ext>
            </a:extLst>
          </p:cNvPr>
          <p:cNvCxnSpPr/>
          <p:nvPr/>
        </p:nvCxnSpPr>
        <p:spPr>
          <a:xfrm>
            <a:off x="6652727" y="2127379"/>
            <a:ext cx="380406" cy="0"/>
          </a:xfrm>
          <a:prstGeom prst="line">
            <a:avLst/>
          </a:prstGeom>
        </p:spPr>
        <p:style>
          <a:lnRef idx="2">
            <a:schemeClr val="dk1"/>
          </a:lnRef>
          <a:fillRef idx="0">
            <a:schemeClr val="dk1"/>
          </a:fillRef>
          <a:effectRef idx="1">
            <a:schemeClr val="dk1"/>
          </a:effectRef>
          <a:fontRef idx="minor">
            <a:schemeClr val="tx1"/>
          </a:fontRef>
        </p:style>
      </p:cxnSp>
      <p:cxnSp>
        <p:nvCxnSpPr>
          <p:cNvPr id="60" name="Straight Connector 59">
            <a:extLst>
              <a:ext uri="{FF2B5EF4-FFF2-40B4-BE49-F238E27FC236}">
                <a16:creationId xmlns:a16="http://schemas.microsoft.com/office/drawing/2014/main" id="{2123233E-F9A7-E035-7E8D-7B05BCF988F0}"/>
              </a:ext>
            </a:extLst>
          </p:cNvPr>
          <p:cNvCxnSpPr/>
          <p:nvPr/>
        </p:nvCxnSpPr>
        <p:spPr>
          <a:xfrm>
            <a:off x="6695790" y="2761861"/>
            <a:ext cx="380406" cy="0"/>
          </a:xfrm>
          <a:prstGeom prst="line">
            <a:avLst/>
          </a:prstGeom>
        </p:spPr>
        <p:style>
          <a:lnRef idx="2">
            <a:schemeClr val="dk1"/>
          </a:lnRef>
          <a:fillRef idx="0">
            <a:schemeClr val="dk1"/>
          </a:fillRef>
          <a:effectRef idx="1">
            <a:schemeClr val="dk1"/>
          </a:effectRef>
          <a:fontRef idx="minor">
            <a:schemeClr val="tx1"/>
          </a:fontRef>
        </p:style>
      </p:cxnSp>
      <p:cxnSp>
        <p:nvCxnSpPr>
          <p:cNvPr id="64" name="Straight Arrow Connector 63">
            <a:extLst>
              <a:ext uri="{FF2B5EF4-FFF2-40B4-BE49-F238E27FC236}">
                <a16:creationId xmlns:a16="http://schemas.microsoft.com/office/drawing/2014/main" id="{1021A183-3BB1-5471-43FD-40D6004D3FDC}"/>
              </a:ext>
            </a:extLst>
          </p:cNvPr>
          <p:cNvCxnSpPr>
            <a:stCxn id="45" idx="0"/>
          </p:cNvCxnSpPr>
          <p:nvPr/>
        </p:nvCxnSpPr>
        <p:spPr>
          <a:xfrm flipV="1">
            <a:off x="7999101" y="1972251"/>
            <a:ext cx="0" cy="2654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7" name="TextBox 66">
            <a:extLst>
              <a:ext uri="{FF2B5EF4-FFF2-40B4-BE49-F238E27FC236}">
                <a16:creationId xmlns:a16="http://schemas.microsoft.com/office/drawing/2014/main" id="{981972A1-6463-0FF9-A280-CB63A9DDC984}"/>
              </a:ext>
            </a:extLst>
          </p:cNvPr>
          <p:cNvSpPr txBox="1"/>
          <p:nvPr/>
        </p:nvSpPr>
        <p:spPr>
          <a:xfrm>
            <a:off x="6453141" y="1742933"/>
            <a:ext cx="354584" cy="246221"/>
          </a:xfrm>
          <a:prstGeom prst="rect">
            <a:avLst/>
          </a:prstGeom>
          <a:noFill/>
        </p:spPr>
        <p:txBody>
          <a:bodyPr wrap="none" rtlCol="0">
            <a:spAutoFit/>
          </a:bodyPr>
          <a:lstStyle/>
          <a:p>
            <a:r>
              <a:rPr lang="en-GB" sz="1000" b="1" dirty="0"/>
              <a:t>file</a:t>
            </a:r>
            <a:endParaRPr lang="en-IN" sz="1000" b="1" dirty="0"/>
          </a:p>
        </p:txBody>
      </p:sp>
      <p:sp>
        <p:nvSpPr>
          <p:cNvPr id="68" name="TextBox 67">
            <a:extLst>
              <a:ext uri="{FF2B5EF4-FFF2-40B4-BE49-F238E27FC236}">
                <a16:creationId xmlns:a16="http://schemas.microsoft.com/office/drawing/2014/main" id="{336F274C-F129-E2E1-FC0E-2440A525CA66}"/>
              </a:ext>
            </a:extLst>
          </p:cNvPr>
          <p:cNvSpPr txBox="1"/>
          <p:nvPr/>
        </p:nvSpPr>
        <p:spPr>
          <a:xfrm>
            <a:off x="7642940" y="1752276"/>
            <a:ext cx="760144" cy="246221"/>
          </a:xfrm>
          <a:prstGeom prst="rect">
            <a:avLst/>
          </a:prstGeom>
          <a:noFill/>
        </p:spPr>
        <p:txBody>
          <a:bodyPr wrap="none" rtlCol="0">
            <a:spAutoFit/>
          </a:bodyPr>
          <a:lstStyle/>
          <a:p>
            <a:r>
              <a:rPr lang="en-GB" sz="1000" b="1" dirty="0"/>
              <a:t>interpreter</a:t>
            </a:r>
            <a:endParaRPr lang="en-IN" sz="1000" b="1" dirty="0"/>
          </a:p>
        </p:txBody>
      </p:sp>
      <p:sp>
        <p:nvSpPr>
          <p:cNvPr id="69" name="TextBox 68">
            <a:extLst>
              <a:ext uri="{FF2B5EF4-FFF2-40B4-BE49-F238E27FC236}">
                <a16:creationId xmlns:a16="http://schemas.microsoft.com/office/drawing/2014/main" id="{81439945-288B-8808-B887-25E4401FFA00}"/>
              </a:ext>
            </a:extLst>
          </p:cNvPr>
          <p:cNvSpPr txBox="1"/>
          <p:nvPr/>
        </p:nvSpPr>
        <p:spPr>
          <a:xfrm>
            <a:off x="8935952" y="2378635"/>
            <a:ext cx="543739" cy="246221"/>
          </a:xfrm>
          <a:prstGeom prst="rect">
            <a:avLst/>
          </a:prstGeom>
          <a:noFill/>
        </p:spPr>
        <p:txBody>
          <a:bodyPr wrap="none" rtlCol="0">
            <a:spAutoFit/>
          </a:bodyPr>
          <a:lstStyle/>
          <a:p>
            <a:r>
              <a:rPr lang="en-GB" sz="1000" b="1" dirty="0"/>
              <a:t>output</a:t>
            </a:r>
            <a:endParaRPr lang="en-IN" sz="1000" b="1" dirty="0"/>
          </a:p>
        </p:txBody>
      </p:sp>
    </p:spTree>
    <p:extLst>
      <p:ext uri="{BB962C8B-B14F-4D97-AF65-F5344CB8AC3E}">
        <p14:creationId xmlns:p14="http://schemas.microsoft.com/office/powerpoint/2010/main" val="2749951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AF9D2D-5D53-2D87-48DC-96420EE3FD0B}"/>
              </a:ext>
            </a:extLst>
          </p:cNvPr>
          <p:cNvSpPr txBox="1"/>
          <p:nvPr/>
        </p:nvSpPr>
        <p:spPr>
          <a:xfrm>
            <a:off x="4058817" y="905070"/>
            <a:ext cx="3360215" cy="523220"/>
          </a:xfrm>
          <a:prstGeom prst="rect">
            <a:avLst/>
          </a:prstGeom>
          <a:noFill/>
        </p:spPr>
        <p:txBody>
          <a:bodyPr wrap="none" rtlCol="0">
            <a:spAutoFit/>
          </a:bodyPr>
          <a:lstStyle/>
          <a:p>
            <a:r>
              <a:rPr lang="en-GB" sz="2800" b="1" u="sng" dirty="0">
                <a:latin typeface="Cambria" panose="02040503050406030204" pitchFamily="18" charset="0"/>
                <a:ea typeface="Cambria" panose="02040503050406030204" pitchFamily="18" charset="0"/>
              </a:rPr>
              <a:t>Data base language</a:t>
            </a:r>
            <a:endParaRPr lang="en-IN" sz="2800" b="1" u="sng"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61C4798-3BB0-6299-0E52-8B4BC5284EB4}"/>
              </a:ext>
            </a:extLst>
          </p:cNvPr>
          <p:cNvSpPr txBox="1"/>
          <p:nvPr/>
        </p:nvSpPr>
        <p:spPr>
          <a:xfrm>
            <a:off x="1415920" y="1917440"/>
            <a:ext cx="8885075" cy="2308324"/>
          </a:xfrm>
          <a:prstGeom prst="rect">
            <a:avLst/>
          </a:prstGeom>
          <a:noFill/>
        </p:spPr>
        <p:txBody>
          <a:bodyPr wrap="square" rtlCol="0">
            <a:spAutoFit/>
          </a:bodyPr>
          <a:lstStyle/>
          <a:p>
            <a:r>
              <a:rPr lang="en-GB" b="1" dirty="0"/>
              <a:t>SQL</a:t>
            </a:r>
            <a:r>
              <a:rPr lang="en-GB" dirty="0"/>
              <a:t>: it denotes </a:t>
            </a:r>
            <a:r>
              <a:rPr lang="en-IN" dirty="0"/>
              <a:t>“</a:t>
            </a:r>
            <a:r>
              <a:rPr lang="en-GB" dirty="0"/>
              <a:t>Structured Query language”.it stores data in a structural format and data is retrieve using queries.</a:t>
            </a:r>
          </a:p>
          <a:p>
            <a:endParaRPr lang="en-GB" dirty="0"/>
          </a:p>
          <a:p>
            <a:r>
              <a:rPr lang="en-GB" b="1" dirty="0"/>
              <a:t>Data</a:t>
            </a:r>
            <a:r>
              <a:rPr lang="en-GB" dirty="0"/>
              <a:t>: It is a raw fact which describes attributes of entity.</a:t>
            </a:r>
          </a:p>
          <a:p>
            <a:endParaRPr lang="en-GB" dirty="0"/>
          </a:p>
          <a:p>
            <a:r>
              <a:rPr lang="en-GB" b="1" dirty="0"/>
              <a:t>Database</a:t>
            </a:r>
            <a:r>
              <a:rPr lang="en-GB" dirty="0"/>
              <a:t>: It is place or medium in which we store the data in a particular and organized manner.</a:t>
            </a:r>
          </a:p>
          <a:p>
            <a:endParaRPr lang="en-GB" dirty="0"/>
          </a:p>
          <a:p>
            <a:r>
              <a:rPr lang="en-GB" b="1" dirty="0"/>
              <a:t>DBMS</a:t>
            </a:r>
            <a:r>
              <a:rPr lang="en-GB" dirty="0"/>
              <a:t>: It stands for Database Management System. It is used maintain and manage data.</a:t>
            </a:r>
            <a:endParaRPr lang="en-IN" dirty="0"/>
          </a:p>
        </p:txBody>
      </p:sp>
      <p:sp>
        <p:nvSpPr>
          <p:cNvPr id="7" name="Rectangle 6">
            <a:extLst>
              <a:ext uri="{FF2B5EF4-FFF2-40B4-BE49-F238E27FC236}">
                <a16:creationId xmlns:a16="http://schemas.microsoft.com/office/drawing/2014/main" id="{5A557DB1-3CA8-090A-24C6-1DD1C14442C5}"/>
              </a:ext>
            </a:extLst>
          </p:cNvPr>
          <p:cNvSpPr/>
          <p:nvPr/>
        </p:nvSpPr>
        <p:spPr>
          <a:xfrm>
            <a:off x="3508311" y="4944196"/>
            <a:ext cx="2015412" cy="15714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24848F9D-294E-7A4E-0A98-9BFD84EE9EEA}"/>
              </a:ext>
            </a:extLst>
          </p:cNvPr>
          <p:cNvSpPr/>
          <p:nvPr/>
        </p:nvSpPr>
        <p:spPr>
          <a:xfrm>
            <a:off x="3979432" y="5306571"/>
            <a:ext cx="1032588" cy="9734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8">
            <a:extLst>
              <a:ext uri="{FF2B5EF4-FFF2-40B4-BE49-F238E27FC236}">
                <a16:creationId xmlns:a16="http://schemas.microsoft.com/office/drawing/2014/main" id="{42F35AFB-F9DA-4331-20FA-47782CF82983}"/>
              </a:ext>
            </a:extLst>
          </p:cNvPr>
          <p:cNvSpPr/>
          <p:nvPr/>
        </p:nvSpPr>
        <p:spPr>
          <a:xfrm>
            <a:off x="4250020" y="5793318"/>
            <a:ext cx="491412" cy="2363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7D4595C1-DA2A-CF75-8499-35F111237D98}"/>
              </a:ext>
            </a:extLst>
          </p:cNvPr>
          <p:cNvSpPr txBox="1"/>
          <p:nvPr/>
        </p:nvSpPr>
        <p:spPr>
          <a:xfrm>
            <a:off x="4126073" y="6435253"/>
            <a:ext cx="739305" cy="338554"/>
          </a:xfrm>
          <a:prstGeom prst="rect">
            <a:avLst/>
          </a:prstGeom>
          <a:noFill/>
        </p:spPr>
        <p:txBody>
          <a:bodyPr wrap="none" rtlCol="0">
            <a:spAutoFit/>
          </a:bodyPr>
          <a:lstStyle/>
          <a:p>
            <a:r>
              <a:rPr lang="en-GB" sz="1600" dirty="0"/>
              <a:t>DBMS</a:t>
            </a:r>
            <a:endParaRPr lang="en-IN" sz="1600" dirty="0"/>
          </a:p>
        </p:txBody>
      </p:sp>
      <p:sp>
        <p:nvSpPr>
          <p:cNvPr id="12" name="TextBox 11">
            <a:extLst>
              <a:ext uri="{FF2B5EF4-FFF2-40B4-BE49-F238E27FC236}">
                <a16:creationId xmlns:a16="http://schemas.microsoft.com/office/drawing/2014/main" id="{556112F2-8EB0-D80B-6D43-A67389459605}"/>
              </a:ext>
            </a:extLst>
          </p:cNvPr>
          <p:cNvSpPr txBox="1"/>
          <p:nvPr/>
        </p:nvSpPr>
        <p:spPr>
          <a:xfrm>
            <a:off x="4301888" y="5977691"/>
            <a:ext cx="439544" cy="261610"/>
          </a:xfrm>
          <a:prstGeom prst="rect">
            <a:avLst/>
          </a:prstGeom>
          <a:noFill/>
        </p:spPr>
        <p:txBody>
          <a:bodyPr wrap="none" rtlCol="0">
            <a:spAutoFit/>
          </a:bodyPr>
          <a:lstStyle/>
          <a:p>
            <a:r>
              <a:rPr lang="en-GB" sz="1100" dirty="0"/>
              <a:t>Files</a:t>
            </a:r>
            <a:endParaRPr lang="en-IN" sz="1100" dirty="0"/>
          </a:p>
        </p:txBody>
      </p:sp>
      <p:sp>
        <p:nvSpPr>
          <p:cNvPr id="13" name="TextBox 12">
            <a:extLst>
              <a:ext uri="{FF2B5EF4-FFF2-40B4-BE49-F238E27FC236}">
                <a16:creationId xmlns:a16="http://schemas.microsoft.com/office/drawing/2014/main" id="{4B3ACAC0-551F-46EB-27F8-413894E1A708}"/>
              </a:ext>
            </a:extLst>
          </p:cNvPr>
          <p:cNvSpPr txBox="1"/>
          <p:nvPr/>
        </p:nvSpPr>
        <p:spPr>
          <a:xfrm>
            <a:off x="4163807" y="6217409"/>
            <a:ext cx="790601" cy="276999"/>
          </a:xfrm>
          <a:prstGeom prst="rect">
            <a:avLst/>
          </a:prstGeom>
          <a:noFill/>
        </p:spPr>
        <p:txBody>
          <a:bodyPr wrap="none" rtlCol="0">
            <a:spAutoFit/>
          </a:bodyPr>
          <a:lstStyle/>
          <a:p>
            <a:r>
              <a:rPr lang="en-GB" sz="1200" dirty="0"/>
              <a:t>Databases</a:t>
            </a:r>
            <a:endParaRPr lang="en-IN" sz="1200" dirty="0"/>
          </a:p>
        </p:txBody>
      </p:sp>
      <p:sp>
        <p:nvSpPr>
          <p:cNvPr id="14" name="TextBox 13">
            <a:extLst>
              <a:ext uri="{FF2B5EF4-FFF2-40B4-BE49-F238E27FC236}">
                <a16:creationId xmlns:a16="http://schemas.microsoft.com/office/drawing/2014/main" id="{5CDFBCC6-4014-739A-F2E6-95056789EBCD}"/>
              </a:ext>
            </a:extLst>
          </p:cNvPr>
          <p:cNvSpPr txBox="1"/>
          <p:nvPr/>
        </p:nvSpPr>
        <p:spPr>
          <a:xfrm>
            <a:off x="3573361" y="5793318"/>
            <a:ext cx="412292" cy="261610"/>
          </a:xfrm>
          <a:prstGeom prst="rect">
            <a:avLst/>
          </a:prstGeom>
          <a:noFill/>
        </p:spPr>
        <p:txBody>
          <a:bodyPr wrap="none" rtlCol="0">
            <a:spAutoFit/>
          </a:bodyPr>
          <a:lstStyle/>
          <a:p>
            <a:r>
              <a:rPr lang="en-GB" sz="1100" dirty="0"/>
              <a:t>data</a:t>
            </a:r>
            <a:endParaRPr lang="en-IN" sz="1100" dirty="0"/>
          </a:p>
        </p:txBody>
      </p:sp>
      <p:cxnSp>
        <p:nvCxnSpPr>
          <p:cNvPr id="19" name="Connector: Curved 18">
            <a:extLst>
              <a:ext uri="{FF2B5EF4-FFF2-40B4-BE49-F238E27FC236}">
                <a16:creationId xmlns:a16="http://schemas.microsoft.com/office/drawing/2014/main" id="{D9F98337-463A-9524-9A34-F4610AC7B1E4}"/>
              </a:ext>
            </a:extLst>
          </p:cNvPr>
          <p:cNvCxnSpPr>
            <a:stCxn id="14" idx="0"/>
            <a:endCxn id="9" idx="0"/>
          </p:cNvCxnSpPr>
          <p:nvPr/>
        </p:nvCxnSpPr>
        <p:spPr>
          <a:xfrm rot="5400000" flipH="1" flipV="1">
            <a:off x="4137616" y="5435209"/>
            <a:ext cx="12700" cy="716219"/>
          </a:xfrm>
          <a:prstGeom prst="curvedConnector3">
            <a:avLst>
              <a:gd name="adj1" fmla="val 1800000"/>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DFAA55A9-5C3E-C89D-2822-4502D6555A3A}"/>
              </a:ext>
            </a:extLst>
          </p:cNvPr>
          <p:cNvSpPr txBox="1"/>
          <p:nvPr/>
        </p:nvSpPr>
        <p:spPr>
          <a:xfrm>
            <a:off x="4899834" y="4712568"/>
            <a:ext cx="623889" cy="246221"/>
          </a:xfrm>
          <a:prstGeom prst="rect">
            <a:avLst/>
          </a:prstGeom>
          <a:noFill/>
        </p:spPr>
        <p:txBody>
          <a:bodyPr wrap="none" rtlCol="0">
            <a:spAutoFit/>
          </a:bodyPr>
          <a:lstStyle/>
          <a:p>
            <a:r>
              <a:rPr lang="en-GB" sz="1000" dirty="0"/>
              <a:t>Software</a:t>
            </a:r>
            <a:endParaRPr lang="en-IN" sz="1000" dirty="0"/>
          </a:p>
        </p:txBody>
      </p:sp>
      <p:sp>
        <p:nvSpPr>
          <p:cNvPr id="21" name="TextBox 20">
            <a:extLst>
              <a:ext uri="{FF2B5EF4-FFF2-40B4-BE49-F238E27FC236}">
                <a16:creationId xmlns:a16="http://schemas.microsoft.com/office/drawing/2014/main" id="{BCE9E0A6-5E5A-FCC1-82D4-235DB2D703F3}"/>
              </a:ext>
            </a:extLst>
          </p:cNvPr>
          <p:cNvSpPr txBox="1"/>
          <p:nvPr/>
        </p:nvSpPr>
        <p:spPr>
          <a:xfrm>
            <a:off x="5483141" y="4962862"/>
            <a:ext cx="1071127" cy="430887"/>
          </a:xfrm>
          <a:prstGeom prst="rect">
            <a:avLst/>
          </a:prstGeom>
          <a:noFill/>
        </p:spPr>
        <p:txBody>
          <a:bodyPr wrap="none" rtlCol="0">
            <a:spAutoFit/>
          </a:bodyPr>
          <a:lstStyle/>
          <a:p>
            <a:r>
              <a:rPr lang="en-GB" sz="1100" dirty="0"/>
              <a:t>+ Security</a:t>
            </a:r>
          </a:p>
          <a:p>
            <a:r>
              <a:rPr lang="en-GB" sz="1100" dirty="0"/>
              <a:t>+ Authorisation</a:t>
            </a:r>
            <a:endParaRPr lang="en-IN" sz="1100" dirty="0"/>
          </a:p>
        </p:txBody>
      </p:sp>
      <p:cxnSp>
        <p:nvCxnSpPr>
          <p:cNvPr id="5" name="Straight Arrow Connector 4"/>
          <p:cNvCxnSpPr/>
          <p:nvPr/>
        </p:nvCxnSpPr>
        <p:spPr>
          <a:xfrm>
            <a:off x="2743200" y="6217409"/>
            <a:ext cx="65682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 name="TextBox 5"/>
          <p:cNvSpPr txBox="1"/>
          <p:nvPr/>
        </p:nvSpPr>
        <p:spPr>
          <a:xfrm>
            <a:off x="2371146" y="5902736"/>
            <a:ext cx="1074333" cy="253916"/>
          </a:xfrm>
          <a:prstGeom prst="rect">
            <a:avLst/>
          </a:prstGeom>
          <a:noFill/>
        </p:spPr>
        <p:txBody>
          <a:bodyPr wrap="none" rtlCol="0">
            <a:spAutoFit/>
          </a:bodyPr>
          <a:lstStyle/>
          <a:p>
            <a:r>
              <a:rPr lang="en-US" sz="1050" dirty="0"/>
              <a:t>Query language</a:t>
            </a:r>
          </a:p>
        </p:txBody>
      </p:sp>
    </p:spTree>
    <p:extLst>
      <p:ext uri="{BB962C8B-B14F-4D97-AF65-F5344CB8AC3E}">
        <p14:creationId xmlns:p14="http://schemas.microsoft.com/office/powerpoint/2010/main" val="2687883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2450DA-1E1E-8684-2F33-9E23A314C672}"/>
              </a:ext>
            </a:extLst>
          </p:cNvPr>
          <p:cNvSpPr txBox="1"/>
          <p:nvPr/>
        </p:nvSpPr>
        <p:spPr>
          <a:xfrm>
            <a:off x="4562670" y="858416"/>
            <a:ext cx="2028889" cy="400110"/>
          </a:xfrm>
          <a:prstGeom prst="rect">
            <a:avLst/>
          </a:prstGeom>
          <a:noFill/>
        </p:spPr>
        <p:txBody>
          <a:bodyPr wrap="none" rtlCol="0">
            <a:spAutoFit/>
          </a:bodyPr>
          <a:lstStyle/>
          <a:p>
            <a:r>
              <a:rPr lang="en-GB" sz="2000" b="1" u="sng" dirty="0"/>
              <a:t>Types of DBMS:</a:t>
            </a:r>
            <a:endParaRPr lang="en-IN" sz="2000" b="1" u="sng" dirty="0"/>
          </a:p>
        </p:txBody>
      </p:sp>
      <p:sp>
        <p:nvSpPr>
          <p:cNvPr id="3" name="TextBox 2">
            <a:extLst>
              <a:ext uri="{FF2B5EF4-FFF2-40B4-BE49-F238E27FC236}">
                <a16:creationId xmlns:a16="http://schemas.microsoft.com/office/drawing/2014/main" id="{D70F5063-90C4-A41C-D975-1DFDAAA5264C}"/>
              </a:ext>
            </a:extLst>
          </p:cNvPr>
          <p:cNvSpPr txBox="1"/>
          <p:nvPr/>
        </p:nvSpPr>
        <p:spPr>
          <a:xfrm>
            <a:off x="1884783" y="1744823"/>
            <a:ext cx="4021494" cy="1200329"/>
          </a:xfrm>
          <a:prstGeom prst="rect">
            <a:avLst/>
          </a:prstGeom>
          <a:noFill/>
        </p:spPr>
        <p:txBody>
          <a:bodyPr wrap="square" rtlCol="0">
            <a:spAutoFit/>
          </a:bodyPr>
          <a:lstStyle/>
          <a:p>
            <a:pPr marL="285750" indent="-285750">
              <a:buFont typeface="Arial" panose="020B0604020202020204" pitchFamily="34" charset="0"/>
              <a:buChar char="•"/>
            </a:pPr>
            <a:r>
              <a:rPr lang="en-GB" dirty="0"/>
              <a:t>HDBMS(hierarchy DBMS)</a:t>
            </a:r>
          </a:p>
          <a:p>
            <a:pPr marL="285750" indent="-285750">
              <a:buFont typeface="Arial" panose="020B0604020202020204" pitchFamily="34" charset="0"/>
              <a:buChar char="•"/>
            </a:pPr>
            <a:r>
              <a:rPr lang="en-GB" dirty="0"/>
              <a:t>RDBMS(Relational DBMS)</a:t>
            </a:r>
          </a:p>
          <a:p>
            <a:pPr marL="285750" indent="-285750">
              <a:buFont typeface="Arial" panose="020B0604020202020204" pitchFamily="34" charset="0"/>
              <a:buChar char="•"/>
            </a:pPr>
            <a:r>
              <a:rPr lang="en-GB" dirty="0"/>
              <a:t>NDBMS(Network DBMS)</a:t>
            </a:r>
          </a:p>
          <a:p>
            <a:pPr marL="285750" indent="-285750">
              <a:buFont typeface="Arial" panose="020B0604020202020204" pitchFamily="34" charset="0"/>
              <a:buChar char="•"/>
            </a:pPr>
            <a:r>
              <a:rPr lang="en-GB" dirty="0"/>
              <a:t>OODBMS(Object oriented DBMS)</a:t>
            </a:r>
            <a:endParaRPr lang="en-IN" dirty="0"/>
          </a:p>
        </p:txBody>
      </p:sp>
      <p:sp>
        <p:nvSpPr>
          <p:cNvPr id="12" name="TextBox 11">
            <a:extLst>
              <a:ext uri="{FF2B5EF4-FFF2-40B4-BE49-F238E27FC236}">
                <a16:creationId xmlns:a16="http://schemas.microsoft.com/office/drawing/2014/main" id="{DADF42BA-F30C-B17C-817E-99DA79E8B150}"/>
              </a:ext>
            </a:extLst>
          </p:cNvPr>
          <p:cNvSpPr txBox="1"/>
          <p:nvPr/>
        </p:nvSpPr>
        <p:spPr>
          <a:xfrm>
            <a:off x="1128485" y="3202776"/>
            <a:ext cx="8897258" cy="646331"/>
          </a:xfrm>
          <a:prstGeom prst="rect">
            <a:avLst/>
          </a:prstGeom>
          <a:noFill/>
        </p:spPr>
        <p:txBody>
          <a:bodyPr wrap="square" rtlCol="0">
            <a:spAutoFit/>
          </a:bodyPr>
          <a:lstStyle/>
          <a:p>
            <a:r>
              <a:rPr lang="en-GB" b="1" dirty="0"/>
              <a:t>RDBMS</a:t>
            </a:r>
            <a:r>
              <a:rPr lang="en-GB" dirty="0"/>
              <a:t>: It stands for relational database management system. It is also used to maintain and manage data</a:t>
            </a:r>
            <a:endParaRPr lang="en-IN" dirty="0"/>
          </a:p>
        </p:txBody>
      </p:sp>
      <p:sp>
        <p:nvSpPr>
          <p:cNvPr id="13" name="Rectangle 12">
            <a:extLst>
              <a:ext uri="{FF2B5EF4-FFF2-40B4-BE49-F238E27FC236}">
                <a16:creationId xmlns:a16="http://schemas.microsoft.com/office/drawing/2014/main" id="{F631945E-C4D9-0790-6C37-2C7CA193BE19}"/>
              </a:ext>
            </a:extLst>
          </p:cNvPr>
          <p:cNvSpPr/>
          <p:nvPr/>
        </p:nvSpPr>
        <p:spPr>
          <a:xfrm>
            <a:off x="2887824" y="4167432"/>
            <a:ext cx="2015412" cy="15714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BECFC959-6417-EF0F-503A-4D3C80C119CE}"/>
              </a:ext>
            </a:extLst>
          </p:cNvPr>
          <p:cNvSpPr/>
          <p:nvPr/>
        </p:nvSpPr>
        <p:spPr>
          <a:xfrm>
            <a:off x="3416557" y="4553868"/>
            <a:ext cx="1032588" cy="9734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14">
            <a:extLst>
              <a:ext uri="{FF2B5EF4-FFF2-40B4-BE49-F238E27FC236}">
                <a16:creationId xmlns:a16="http://schemas.microsoft.com/office/drawing/2014/main" id="{6B9D97B0-BE2B-F90B-0CAF-F42F923825C3}"/>
              </a:ext>
            </a:extLst>
          </p:cNvPr>
          <p:cNvSpPr/>
          <p:nvPr/>
        </p:nvSpPr>
        <p:spPr>
          <a:xfrm>
            <a:off x="3687145" y="5040615"/>
            <a:ext cx="491412" cy="2363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CD1726A3-F8AC-3BBA-0431-B475C783B9B4}"/>
              </a:ext>
            </a:extLst>
          </p:cNvPr>
          <p:cNvSpPr txBox="1"/>
          <p:nvPr/>
        </p:nvSpPr>
        <p:spPr>
          <a:xfrm>
            <a:off x="3739013" y="5224988"/>
            <a:ext cx="543739" cy="261610"/>
          </a:xfrm>
          <a:prstGeom prst="rect">
            <a:avLst/>
          </a:prstGeom>
          <a:noFill/>
        </p:spPr>
        <p:txBody>
          <a:bodyPr wrap="none" rtlCol="0">
            <a:spAutoFit/>
          </a:bodyPr>
          <a:lstStyle/>
          <a:p>
            <a:r>
              <a:rPr lang="en-GB" sz="1100" dirty="0"/>
              <a:t>Tables</a:t>
            </a:r>
            <a:endParaRPr lang="en-IN" sz="1100" dirty="0"/>
          </a:p>
        </p:txBody>
      </p:sp>
      <p:sp>
        <p:nvSpPr>
          <p:cNvPr id="17" name="TextBox 16">
            <a:extLst>
              <a:ext uri="{FF2B5EF4-FFF2-40B4-BE49-F238E27FC236}">
                <a16:creationId xmlns:a16="http://schemas.microsoft.com/office/drawing/2014/main" id="{30209AD4-F768-8C92-06F9-B444334BEEEE}"/>
              </a:ext>
            </a:extLst>
          </p:cNvPr>
          <p:cNvSpPr txBox="1"/>
          <p:nvPr/>
        </p:nvSpPr>
        <p:spPr>
          <a:xfrm>
            <a:off x="3600932" y="5464706"/>
            <a:ext cx="790601" cy="276999"/>
          </a:xfrm>
          <a:prstGeom prst="rect">
            <a:avLst/>
          </a:prstGeom>
          <a:noFill/>
        </p:spPr>
        <p:txBody>
          <a:bodyPr wrap="none" rtlCol="0">
            <a:spAutoFit/>
          </a:bodyPr>
          <a:lstStyle/>
          <a:p>
            <a:r>
              <a:rPr lang="en-GB" sz="1200" dirty="0"/>
              <a:t>Databases</a:t>
            </a:r>
            <a:endParaRPr lang="en-IN" sz="1200" dirty="0"/>
          </a:p>
        </p:txBody>
      </p:sp>
      <p:sp>
        <p:nvSpPr>
          <p:cNvPr id="18" name="TextBox 17">
            <a:extLst>
              <a:ext uri="{FF2B5EF4-FFF2-40B4-BE49-F238E27FC236}">
                <a16:creationId xmlns:a16="http://schemas.microsoft.com/office/drawing/2014/main" id="{55AE3421-C1A7-A66C-143E-7D60574F5559}"/>
              </a:ext>
            </a:extLst>
          </p:cNvPr>
          <p:cNvSpPr txBox="1"/>
          <p:nvPr/>
        </p:nvSpPr>
        <p:spPr>
          <a:xfrm>
            <a:off x="3010486" y="5040615"/>
            <a:ext cx="412292" cy="261610"/>
          </a:xfrm>
          <a:prstGeom prst="rect">
            <a:avLst/>
          </a:prstGeom>
          <a:noFill/>
        </p:spPr>
        <p:txBody>
          <a:bodyPr wrap="none" rtlCol="0">
            <a:spAutoFit/>
          </a:bodyPr>
          <a:lstStyle/>
          <a:p>
            <a:r>
              <a:rPr lang="en-GB" sz="1100" dirty="0"/>
              <a:t>data</a:t>
            </a:r>
            <a:endParaRPr lang="en-IN" sz="1100" dirty="0"/>
          </a:p>
        </p:txBody>
      </p:sp>
      <p:cxnSp>
        <p:nvCxnSpPr>
          <p:cNvPr id="19" name="Connector: Curved 18">
            <a:extLst>
              <a:ext uri="{FF2B5EF4-FFF2-40B4-BE49-F238E27FC236}">
                <a16:creationId xmlns:a16="http://schemas.microsoft.com/office/drawing/2014/main" id="{332FC554-D54E-3736-BA4C-4D6C6CB4A178}"/>
              </a:ext>
            </a:extLst>
          </p:cNvPr>
          <p:cNvCxnSpPr>
            <a:cxnSpLocks/>
            <a:stCxn id="18" idx="0"/>
            <a:endCxn id="15" idx="0"/>
          </p:cNvCxnSpPr>
          <p:nvPr/>
        </p:nvCxnSpPr>
        <p:spPr>
          <a:xfrm rot="5400000" flipH="1" flipV="1">
            <a:off x="3574741" y="4682506"/>
            <a:ext cx="12700" cy="716219"/>
          </a:xfrm>
          <a:prstGeom prst="curvedConnector3">
            <a:avLst>
              <a:gd name="adj1" fmla="val 1800000"/>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EFAB12F0-ADBB-E96E-DF17-70789493E6C5}"/>
              </a:ext>
            </a:extLst>
          </p:cNvPr>
          <p:cNvSpPr txBox="1"/>
          <p:nvPr/>
        </p:nvSpPr>
        <p:spPr>
          <a:xfrm>
            <a:off x="4896405" y="4163918"/>
            <a:ext cx="1071127" cy="430887"/>
          </a:xfrm>
          <a:prstGeom prst="rect">
            <a:avLst/>
          </a:prstGeom>
          <a:noFill/>
        </p:spPr>
        <p:txBody>
          <a:bodyPr wrap="none" rtlCol="0">
            <a:spAutoFit/>
          </a:bodyPr>
          <a:lstStyle/>
          <a:p>
            <a:r>
              <a:rPr lang="en-GB" sz="1100" dirty="0"/>
              <a:t>+ Security</a:t>
            </a:r>
          </a:p>
          <a:p>
            <a:r>
              <a:rPr lang="en-GB" sz="1100" dirty="0"/>
              <a:t>+ Authorisation</a:t>
            </a:r>
            <a:endParaRPr lang="en-IN" sz="1100" dirty="0"/>
          </a:p>
        </p:txBody>
      </p:sp>
      <p:sp>
        <p:nvSpPr>
          <p:cNvPr id="21" name="TextBox 20">
            <a:extLst>
              <a:ext uri="{FF2B5EF4-FFF2-40B4-BE49-F238E27FC236}">
                <a16:creationId xmlns:a16="http://schemas.microsoft.com/office/drawing/2014/main" id="{4139D048-3E7C-3456-CEFB-1316A23BFD10}"/>
              </a:ext>
            </a:extLst>
          </p:cNvPr>
          <p:cNvSpPr txBox="1"/>
          <p:nvPr/>
        </p:nvSpPr>
        <p:spPr>
          <a:xfrm>
            <a:off x="4328356" y="3950464"/>
            <a:ext cx="623889" cy="246221"/>
          </a:xfrm>
          <a:prstGeom prst="rect">
            <a:avLst/>
          </a:prstGeom>
          <a:noFill/>
        </p:spPr>
        <p:txBody>
          <a:bodyPr wrap="none" rtlCol="0">
            <a:spAutoFit/>
          </a:bodyPr>
          <a:lstStyle/>
          <a:p>
            <a:r>
              <a:rPr lang="en-GB" sz="1000" dirty="0"/>
              <a:t>Software</a:t>
            </a:r>
            <a:endParaRPr lang="en-IN" sz="1000" dirty="0"/>
          </a:p>
        </p:txBody>
      </p:sp>
      <p:sp>
        <p:nvSpPr>
          <p:cNvPr id="29" name="TextBox 28">
            <a:extLst>
              <a:ext uri="{FF2B5EF4-FFF2-40B4-BE49-F238E27FC236}">
                <a16:creationId xmlns:a16="http://schemas.microsoft.com/office/drawing/2014/main" id="{05FD402E-5903-9C7F-7103-73937408E248}"/>
              </a:ext>
            </a:extLst>
          </p:cNvPr>
          <p:cNvSpPr txBox="1"/>
          <p:nvPr/>
        </p:nvSpPr>
        <p:spPr>
          <a:xfrm>
            <a:off x="3415207" y="5718627"/>
            <a:ext cx="867545" cy="338554"/>
          </a:xfrm>
          <a:prstGeom prst="rect">
            <a:avLst/>
          </a:prstGeom>
          <a:noFill/>
        </p:spPr>
        <p:txBody>
          <a:bodyPr wrap="none" rtlCol="0">
            <a:spAutoFit/>
          </a:bodyPr>
          <a:lstStyle/>
          <a:p>
            <a:r>
              <a:rPr lang="en-GB" sz="1600" dirty="0"/>
              <a:t>RDBMS</a:t>
            </a:r>
            <a:endParaRPr lang="en-IN" sz="1600" dirty="0"/>
          </a:p>
        </p:txBody>
      </p:sp>
      <p:cxnSp>
        <p:nvCxnSpPr>
          <p:cNvPr id="5" name="Straight Arrow Connector 4"/>
          <p:cNvCxnSpPr/>
          <p:nvPr/>
        </p:nvCxnSpPr>
        <p:spPr>
          <a:xfrm>
            <a:off x="2253803" y="5464706"/>
            <a:ext cx="63402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 name="TextBox 5"/>
          <p:cNvSpPr txBox="1"/>
          <p:nvPr/>
        </p:nvSpPr>
        <p:spPr>
          <a:xfrm>
            <a:off x="1887679" y="5034265"/>
            <a:ext cx="1238514" cy="415498"/>
          </a:xfrm>
          <a:prstGeom prst="rect">
            <a:avLst/>
          </a:prstGeom>
          <a:noFill/>
        </p:spPr>
        <p:txBody>
          <a:bodyPr wrap="square" rtlCol="0">
            <a:spAutoFit/>
          </a:bodyPr>
          <a:lstStyle/>
          <a:p>
            <a:r>
              <a:rPr lang="en-US" sz="1050" dirty="0"/>
              <a:t>Structured query language</a:t>
            </a:r>
          </a:p>
        </p:txBody>
      </p:sp>
    </p:spTree>
    <p:extLst>
      <p:ext uri="{BB962C8B-B14F-4D97-AF65-F5344CB8AC3E}">
        <p14:creationId xmlns:p14="http://schemas.microsoft.com/office/powerpoint/2010/main" val="3070695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299C20-C734-185B-CE8C-A7A8FA0A5DEC}"/>
              </a:ext>
            </a:extLst>
          </p:cNvPr>
          <p:cNvSpPr txBox="1"/>
          <p:nvPr/>
        </p:nvSpPr>
        <p:spPr>
          <a:xfrm flipH="1">
            <a:off x="3507377" y="210866"/>
            <a:ext cx="4684901" cy="523220"/>
          </a:xfrm>
          <a:prstGeom prst="rect">
            <a:avLst/>
          </a:prstGeom>
          <a:noFill/>
        </p:spPr>
        <p:txBody>
          <a:bodyPr wrap="square" rtlCol="0">
            <a:spAutoFit/>
          </a:bodyPr>
          <a:lstStyle/>
          <a:p>
            <a:r>
              <a:rPr lang="en-GB" sz="2800" b="1" u="sng" dirty="0"/>
              <a:t>Over view of the project</a:t>
            </a:r>
            <a:endParaRPr lang="en-IN" sz="2800" b="1" u="sng" dirty="0"/>
          </a:p>
        </p:txBody>
      </p:sp>
      <p:sp>
        <p:nvSpPr>
          <p:cNvPr id="3" name="TextBox 2">
            <a:extLst>
              <a:ext uri="{FF2B5EF4-FFF2-40B4-BE49-F238E27FC236}">
                <a16:creationId xmlns:a16="http://schemas.microsoft.com/office/drawing/2014/main" id="{109AF48E-5F19-3DD2-52C1-E6542A800E13}"/>
              </a:ext>
            </a:extLst>
          </p:cNvPr>
          <p:cNvSpPr txBox="1"/>
          <p:nvPr/>
        </p:nvSpPr>
        <p:spPr>
          <a:xfrm>
            <a:off x="1026367" y="1502229"/>
            <a:ext cx="9097347" cy="3139321"/>
          </a:xfrm>
          <a:prstGeom prst="rect">
            <a:avLst/>
          </a:prstGeom>
          <a:noFill/>
        </p:spPr>
        <p:txBody>
          <a:bodyPr wrap="square" rtlCol="0">
            <a:spAutoFit/>
          </a:bodyPr>
          <a:lstStyle/>
          <a:p>
            <a:r>
              <a:rPr lang="en-US" dirty="0" err="1"/>
              <a:t>Softland</a:t>
            </a:r>
            <a:r>
              <a:rPr lang="en-US" dirty="0"/>
              <a:t> is a modern one page, free website template created with the latest version of Bootstrap framework. </a:t>
            </a:r>
            <a:r>
              <a:rPr lang="en-US" dirty="0" err="1"/>
              <a:t>softland</a:t>
            </a:r>
            <a:r>
              <a:rPr lang="en-US" dirty="0"/>
              <a:t> can be used to build gorgeous looking website for creative agencies, corporate, personal portfolio, creative blog </a:t>
            </a:r>
            <a:r>
              <a:rPr lang="en-US" dirty="0" err="1"/>
              <a:t>etc.Softland</a:t>
            </a:r>
            <a:r>
              <a:rPr lang="en-US" dirty="0"/>
              <a:t> HTML template is a uniquely crafted modern looking template with great design details. </a:t>
            </a:r>
            <a:r>
              <a:rPr lang="en-US" dirty="0" err="1"/>
              <a:t>Softland</a:t>
            </a:r>
            <a:r>
              <a:rPr lang="en-US" dirty="0"/>
              <a:t> It is fully responsive and looks great on all devices and screen sizes. Its easy to use and </a:t>
            </a:r>
            <a:r>
              <a:rPr lang="en-US" dirty="0" err="1"/>
              <a:t>customise</a:t>
            </a:r>
            <a:r>
              <a:rPr lang="en-US" dirty="0"/>
              <a:t> with commented code and well organized files and asset resources. </a:t>
            </a:r>
          </a:p>
          <a:p>
            <a:r>
              <a:rPr lang="en-US" dirty="0"/>
              <a:t>Key Features: </a:t>
            </a:r>
          </a:p>
          <a:p>
            <a:pPr marL="285750" indent="-285750">
              <a:buFont typeface="Arial" panose="020B0604020202020204" pitchFamily="34" charset="0"/>
              <a:buChar char="•"/>
            </a:pPr>
            <a:r>
              <a:rPr lang="en-US" dirty="0"/>
              <a:t>Responsive layout </a:t>
            </a:r>
          </a:p>
          <a:p>
            <a:pPr marL="285750" indent="-285750">
              <a:buFont typeface="Arial" panose="020B0604020202020204" pitchFamily="34" charset="0"/>
              <a:buChar char="•"/>
            </a:pPr>
            <a:r>
              <a:rPr lang="en-US" dirty="0"/>
              <a:t>On click effects </a:t>
            </a:r>
          </a:p>
          <a:p>
            <a:pPr marL="285750" indent="-285750">
              <a:buFont typeface="Arial" panose="020B0604020202020204" pitchFamily="34" charset="0"/>
              <a:buChar char="•"/>
            </a:pPr>
            <a:r>
              <a:rPr lang="en-US" dirty="0"/>
              <a:t>Text alignments </a:t>
            </a:r>
          </a:p>
          <a:p>
            <a:pPr marL="285750" indent="-285750">
              <a:buFont typeface="Arial" panose="020B0604020202020204" pitchFamily="34" charset="0"/>
              <a:buChar char="•"/>
            </a:pPr>
            <a:r>
              <a:rPr lang="en-US" dirty="0"/>
              <a:t>Easy to </a:t>
            </a:r>
            <a:r>
              <a:rPr lang="en-US" dirty="0" err="1"/>
              <a:t>customise</a:t>
            </a:r>
            <a:endParaRPr lang="en-IN" dirty="0"/>
          </a:p>
        </p:txBody>
      </p:sp>
      <p:sp>
        <p:nvSpPr>
          <p:cNvPr id="4" name="TextBox 3">
            <a:extLst>
              <a:ext uri="{FF2B5EF4-FFF2-40B4-BE49-F238E27FC236}">
                <a16:creationId xmlns:a16="http://schemas.microsoft.com/office/drawing/2014/main" id="{81F0C4BE-7FFD-DDA4-0FD7-A89153A369B2}"/>
              </a:ext>
            </a:extLst>
          </p:cNvPr>
          <p:cNvSpPr txBox="1"/>
          <p:nvPr/>
        </p:nvSpPr>
        <p:spPr>
          <a:xfrm>
            <a:off x="3979733" y="765780"/>
            <a:ext cx="2935484" cy="400110"/>
          </a:xfrm>
          <a:prstGeom prst="rect">
            <a:avLst/>
          </a:prstGeom>
          <a:noFill/>
        </p:spPr>
        <p:txBody>
          <a:bodyPr wrap="none" rtlCol="0">
            <a:spAutoFit/>
          </a:bodyPr>
          <a:lstStyle/>
          <a:p>
            <a:r>
              <a:rPr lang="en-GB" sz="2000" b="1" u="sng" dirty="0">
                <a:latin typeface="Aptos" panose="020B0004020202020204" pitchFamily="34" charset="0"/>
              </a:rPr>
              <a:t>Project:- Static Website</a:t>
            </a:r>
            <a:endParaRPr lang="en-IN" sz="2000" b="1" u="sng" dirty="0">
              <a:latin typeface="Aptos" panose="020B0004020202020204" pitchFamily="34" charset="0"/>
            </a:endParaRPr>
          </a:p>
        </p:txBody>
      </p:sp>
    </p:spTree>
    <p:extLst>
      <p:ext uri="{BB962C8B-B14F-4D97-AF65-F5344CB8AC3E}">
        <p14:creationId xmlns:p14="http://schemas.microsoft.com/office/powerpoint/2010/main" val="3280423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B1A0EE8D-0E3D-8BE3-D367-51AFAE0FD349}"/>
              </a:ext>
            </a:extLst>
          </p:cNvPr>
          <p:cNvSpPr>
            <a:spLocks noChangeArrowheads="1"/>
          </p:cNvSpPr>
          <p:nvPr/>
        </p:nvSpPr>
        <p:spPr bwMode="auto">
          <a:xfrm>
            <a:off x="0" y="61261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E4D63548-55E1-33F6-04CE-75E121D396E2}"/>
              </a:ext>
            </a:extLst>
          </p:cNvPr>
          <p:cNvSpPr txBox="1"/>
          <p:nvPr/>
        </p:nvSpPr>
        <p:spPr>
          <a:xfrm>
            <a:off x="5223713" y="346768"/>
            <a:ext cx="2735722" cy="523220"/>
          </a:xfrm>
          <a:prstGeom prst="rect">
            <a:avLst/>
          </a:prstGeom>
          <a:noFill/>
        </p:spPr>
        <p:txBody>
          <a:bodyPr wrap="square" rtlCol="0">
            <a:spAutoFit/>
          </a:bodyPr>
          <a:lstStyle/>
          <a:p>
            <a:r>
              <a:rPr lang="en-GB" sz="2800" b="1" u="sng" dirty="0">
                <a:latin typeface="Aptos" panose="020B0004020202020204" pitchFamily="34" charset="0"/>
              </a:rPr>
              <a:t>Project:-</a:t>
            </a:r>
            <a:endParaRPr lang="en-IN" sz="2800" b="1" u="sng" dirty="0">
              <a:latin typeface="Aptos" panose="020B0004020202020204" pitchFamily="34" charset="0"/>
            </a:endParaRPr>
          </a:p>
        </p:txBody>
      </p:sp>
      <p:sp>
        <p:nvSpPr>
          <p:cNvPr id="10" name="Rectangle 3">
            <a:extLst>
              <a:ext uri="{FF2B5EF4-FFF2-40B4-BE49-F238E27FC236}">
                <a16:creationId xmlns:a16="http://schemas.microsoft.com/office/drawing/2014/main" id="{BCAAB38F-8C18-3021-CF58-719C3C70BC6B}"/>
              </a:ext>
            </a:extLst>
          </p:cNvPr>
          <p:cNvSpPr>
            <a:spLocks noChangeArrowheads="1"/>
          </p:cNvSpPr>
          <p:nvPr/>
        </p:nvSpPr>
        <p:spPr bwMode="auto">
          <a:xfrm>
            <a:off x="0" y="-11043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6" name="Picture 15">
            <a:extLst>
              <a:ext uri="{FF2B5EF4-FFF2-40B4-BE49-F238E27FC236}">
                <a16:creationId xmlns:a16="http://schemas.microsoft.com/office/drawing/2014/main" id="{CE3F8BF1-9CA3-E4BD-049C-CDA8E561B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6610" y="1255247"/>
            <a:ext cx="9678780" cy="4870916"/>
          </a:xfrm>
          <a:prstGeom prst="rect">
            <a:avLst/>
          </a:prstGeom>
        </p:spPr>
      </p:pic>
    </p:spTree>
    <p:extLst>
      <p:ext uri="{BB962C8B-B14F-4D97-AF65-F5344CB8AC3E}">
        <p14:creationId xmlns:p14="http://schemas.microsoft.com/office/powerpoint/2010/main" val="1917765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5090">
            <a:extLst>
              <a:ext uri="{FF2B5EF4-FFF2-40B4-BE49-F238E27FC236}">
                <a16:creationId xmlns:a16="http://schemas.microsoft.com/office/drawing/2014/main" id="{85922404-399B-F37A-B1E6-AF175C58CA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0470" y="-25863"/>
            <a:ext cx="8111059" cy="359354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5">
            <a:extLst>
              <a:ext uri="{FF2B5EF4-FFF2-40B4-BE49-F238E27FC236}">
                <a16:creationId xmlns:a16="http://schemas.microsoft.com/office/drawing/2014/main" id="{E96647EB-FF18-8282-7934-9253EB30AA11}"/>
              </a:ext>
            </a:extLst>
          </p:cNvPr>
          <p:cNvSpPr>
            <a:spLocks noChangeArrowheads="1"/>
          </p:cNvSpPr>
          <p:nvPr/>
        </p:nvSpPr>
        <p:spPr bwMode="auto">
          <a:xfrm>
            <a:off x="0" y="73294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073" name="Picture 5462">
            <a:extLst>
              <a:ext uri="{FF2B5EF4-FFF2-40B4-BE49-F238E27FC236}">
                <a16:creationId xmlns:a16="http://schemas.microsoft.com/office/drawing/2014/main" id="{566ECF4C-596E-4463-C126-88C6873DE2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5876" y="3241668"/>
            <a:ext cx="8205816" cy="3512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1915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5801">
            <a:extLst>
              <a:ext uri="{FF2B5EF4-FFF2-40B4-BE49-F238E27FC236}">
                <a16:creationId xmlns:a16="http://schemas.microsoft.com/office/drawing/2014/main" id="{34F817A4-5374-879E-1458-8E0977D6DE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535863"/>
            <a:ext cx="6797675" cy="32083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B0A84C3B-DB0E-A594-86A4-0B27B7A95164}"/>
              </a:ext>
            </a:extLst>
          </p:cNvPr>
          <p:cNvSpPr>
            <a:spLocks noChangeArrowheads="1"/>
          </p:cNvSpPr>
          <p:nvPr/>
        </p:nvSpPr>
        <p:spPr bwMode="auto">
          <a:xfrm>
            <a:off x="0" y="355630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7">
            <a:extLst>
              <a:ext uri="{FF2B5EF4-FFF2-40B4-BE49-F238E27FC236}">
                <a16:creationId xmlns:a16="http://schemas.microsoft.com/office/drawing/2014/main" id="{513D4884-14EF-F3E2-8BEC-9A21A19BC909}"/>
              </a:ext>
            </a:extLst>
          </p:cNvPr>
          <p:cNvSpPr>
            <a:spLocks noChangeArrowheads="1"/>
          </p:cNvSpPr>
          <p:nvPr/>
        </p:nvSpPr>
        <p:spPr bwMode="auto">
          <a:xfrm>
            <a:off x="0" y="10744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12">
            <a:extLst>
              <a:ext uri="{FF2B5EF4-FFF2-40B4-BE49-F238E27FC236}">
                <a16:creationId xmlns:a16="http://schemas.microsoft.com/office/drawing/2014/main" id="{3555DDDC-9D99-5784-B51E-B207E37DDF7A}"/>
              </a:ext>
            </a:extLst>
          </p:cNvPr>
          <p:cNvSpPr>
            <a:spLocks noChangeArrowheads="1"/>
          </p:cNvSpPr>
          <p:nvPr/>
        </p:nvSpPr>
        <p:spPr bwMode="auto">
          <a:xfrm>
            <a:off x="7035282" y="250993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4107" name="Picture 5801">
            <a:extLst>
              <a:ext uri="{FF2B5EF4-FFF2-40B4-BE49-F238E27FC236}">
                <a16:creationId xmlns:a16="http://schemas.microsoft.com/office/drawing/2014/main" id="{F23D4931-9C42-280E-624E-AF246CD2F4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2244" y="212396"/>
            <a:ext cx="7346240" cy="32166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188">
            <a:extLst>
              <a:ext uri="{FF2B5EF4-FFF2-40B4-BE49-F238E27FC236}">
                <a16:creationId xmlns:a16="http://schemas.microsoft.com/office/drawing/2014/main" id="{E707CD74-7CD7-440A-8AB5-D343EFF82A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244" y="3556304"/>
            <a:ext cx="7601429" cy="3129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490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E6E396-F124-C768-F920-CA177EEDB641}"/>
              </a:ext>
            </a:extLst>
          </p:cNvPr>
          <p:cNvSpPr txBox="1"/>
          <p:nvPr/>
        </p:nvSpPr>
        <p:spPr>
          <a:xfrm>
            <a:off x="1281262" y="742367"/>
            <a:ext cx="8905009" cy="4247317"/>
          </a:xfrm>
          <a:prstGeom prst="rect">
            <a:avLst/>
          </a:prstGeom>
          <a:noFill/>
        </p:spPr>
        <p:txBody>
          <a:bodyPr wrap="square" rtlCol="0">
            <a:spAutoFit/>
          </a:bodyPr>
          <a:lstStyle/>
          <a:p>
            <a:r>
              <a:rPr lang="en-IN" sz="1800" kern="100" dirty="0">
                <a:solidFill>
                  <a:srgbClr val="000000"/>
                </a:solidFill>
                <a:effectLst/>
                <a:ea typeface="Arial" panose="020B0604020202020204" pitchFamily="34" charset="0"/>
              </a:rPr>
              <a:t>Here we </a:t>
            </a:r>
            <a:r>
              <a:rPr lang="en-IN" kern="100" dirty="0">
                <a:solidFill>
                  <a:srgbClr val="000000"/>
                </a:solidFill>
                <a:ea typeface="Arial" panose="020B0604020202020204" pitchFamily="34" charset="0"/>
              </a:rPr>
              <a:t>created the static website project by using </a:t>
            </a:r>
            <a:r>
              <a:rPr lang="en-IN" kern="100" dirty="0" err="1">
                <a:solidFill>
                  <a:srgbClr val="000000"/>
                </a:solidFill>
                <a:ea typeface="Arial" panose="020B0604020202020204" pitchFamily="34" charset="0"/>
              </a:rPr>
              <a:t>html,css</a:t>
            </a:r>
            <a:r>
              <a:rPr lang="en-IN" kern="100" dirty="0">
                <a:solidFill>
                  <a:srgbClr val="000000"/>
                </a:solidFill>
                <a:ea typeface="Arial" panose="020B0604020202020204" pitchFamily="34" charset="0"/>
              </a:rPr>
              <a:t>.</a:t>
            </a:r>
          </a:p>
          <a:p>
            <a:r>
              <a:rPr lang="en-IN" sz="1800" kern="100" dirty="0">
                <a:solidFill>
                  <a:srgbClr val="000000"/>
                </a:solidFill>
                <a:effectLst/>
                <a:ea typeface="Arial" panose="020B0604020202020204" pitchFamily="34" charset="0"/>
              </a:rPr>
              <a:t>HTML is used to structure the content of a webpage, while CSS is used to style and design the visual presentation of that content. So, the images you're referring to are likely created by combining HTML elements to define the structure and CSS rules to define their appearance and layout.</a:t>
            </a:r>
          </a:p>
          <a:p>
            <a:endParaRPr lang="en-IN" kern="100" dirty="0">
              <a:solidFill>
                <a:srgbClr val="000000"/>
              </a:solidFill>
              <a:ea typeface="Arial" panose="020B0604020202020204" pitchFamily="34" charset="0"/>
            </a:endParaRPr>
          </a:p>
          <a:p>
            <a:pPr marL="326390" marR="72390" indent="-285750">
              <a:spcAft>
                <a:spcPts val="20"/>
              </a:spcAft>
              <a:buFont typeface="Arial" panose="020B0604020202020204" pitchFamily="34" charset="0"/>
              <a:buChar char="•"/>
            </a:pPr>
            <a:r>
              <a:rPr lang="en-IN" sz="1800" kern="100" dirty="0">
                <a:solidFill>
                  <a:srgbClr val="000000"/>
                </a:solidFill>
                <a:effectLst/>
                <a:ea typeface="Arial" panose="020B0604020202020204" pitchFamily="34" charset="0"/>
              </a:rPr>
              <a:t>I've created a section for each page by using a &lt;div&gt; tag, making it easy for anyone to understand the code by visually organizing the sections.</a:t>
            </a:r>
          </a:p>
          <a:p>
            <a:pPr marL="326390" marR="72390" indent="-285750">
              <a:spcAft>
                <a:spcPts val="20"/>
              </a:spcAft>
              <a:buFont typeface="Arial" panose="020B0604020202020204" pitchFamily="34" charset="0"/>
              <a:buChar char="•"/>
            </a:pPr>
            <a:r>
              <a:rPr lang="en-IN" sz="1800" kern="100" dirty="0">
                <a:solidFill>
                  <a:srgbClr val="000000"/>
                </a:solidFill>
                <a:effectLst/>
                <a:ea typeface="Arial" panose="020B0604020202020204" pitchFamily="34" charset="0"/>
              </a:rPr>
              <a:t>I've designed a horizontal list that alters its </a:t>
            </a:r>
            <a:r>
              <a:rPr lang="en-IN" sz="1800" kern="100" dirty="0" err="1">
                <a:solidFill>
                  <a:srgbClr val="000000"/>
                </a:solidFill>
                <a:effectLst/>
                <a:ea typeface="Arial" panose="020B0604020202020204" pitchFamily="34" charset="0"/>
              </a:rPr>
              <a:t>color</a:t>
            </a:r>
            <a:r>
              <a:rPr lang="en-IN" sz="1800" kern="100" dirty="0">
                <a:solidFill>
                  <a:srgbClr val="000000"/>
                </a:solidFill>
                <a:effectLst/>
                <a:ea typeface="Arial" panose="020B0604020202020204" pitchFamily="34" charset="0"/>
              </a:rPr>
              <a:t> when hovered over, and it contains a dropdown menu that changes to orange when hovered over as well.</a:t>
            </a:r>
          </a:p>
          <a:p>
            <a:pPr marL="326390" marR="283845" indent="-285750">
              <a:spcAft>
                <a:spcPts val="20"/>
              </a:spcAft>
              <a:buFont typeface="Arial" panose="020B0604020202020204" pitchFamily="34" charset="0"/>
              <a:buChar char="•"/>
            </a:pPr>
            <a:r>
              <a:rPr lang="en-IN" sz="1800" kern="100" dirty="0">
                <a:solidFill>
                  <a:srgbClr val="000000"/>
                </a:solidFill>
                <a:effectLst/>
                <a:ea typeface="Arial" panose="020B0604020202020204" pitchFamily="34" charset="0"/>
              </a:rPr>
              <a:t>I've created a horizontal list with a transparent background layer using the </a:t>
            </a:r>
            <a:r>
              <a:rPr lang="en-IN" sz="1800" kern="100" dirty="0" err="1">
                <a:solidFill>
                  <a:srgbClr val="000000"/>
                </a:solidFill>
                <a:effectLst/>
                <a:ea typeface="Arial" panose="020B0604020202020204" pitchFamily="34" charset="0"/>
              </a:rPr>
              <a:t>rgba</a:t>
            </a:r>
            <a:r>
              <a:rPr lang="en-IN" sz="1800" kern="100" dirty="0">
                <a:solidFill>
                  <a:srgbClr val="000000"/>
                </a:solidFill>
                <a:effectLst/>
                <a:ea typeface="Arial" panose="020B0604020202020204" pitchFamily="34" charset="0"/>
              </a:rPr>
              <a:t> </a:t>
            </a:r>
            <a:r>
              <a:rPr lang="en-IN" sz="1800" kern="100" dirty="0" err="1">
                <a:solidFill>
                  <a:srgbClr val="000000"/>
                </a:solidFill>
                <a:effectLst/>
                <a:ea typeface="Arial" panose="020B0604020202020204" pitchFamily="34" charset="0"/>
              </a:rPr>
              <a:t>color</a:t>
            </a:r>
            <a:r>
              <a:rPr lang="en-IN" sz="1800" kern="100" dirty="0">
                <a:solidFill>
                  <a:srgbClr val="000000"/>
                </a:solidFill>
                <a:effectLst/>
                <a:ea typeface="Arial" panose="020B0604020202020204" pitchFamily="34" charset="0"/>
              </a:rPr>
              <a:t> format. I've created a button </a:t>
            </a:r>
            <a:r>
              <a:rPr lang="en-IN" sz="1800" kern="100" dirty="0" err="1">
                <a:solidFill>
                  <a:srgbClr val="000000"/>
                </a:solidFill>
                <a:effectLst/>
                <a:ea typeface="Arial" panose="020B0604020202020204" pitchFamily="34" charset="0"/>
              </a:rPr>
              <a:t>labeled</a:t>
            </a:r>
            <a:r>
              <a:rPr lang="en-IN" sz="1800" kern="100" dirty="0">
                <a:solidFill>
                  <a:srgbClr val="000000"/>
                </a:solidFill>
                <a:effectLst/>
                <a:ea typeface="Arial" panose="020B0604020202020204" pitchFamily="34" charset="0"/>
              </a:rPr>
              <a:t> "Get Started" that changes </a:t>
            </a:r>
            <a:r>
              <a:rPr lang="en-IN" sz="1800" kern="100" dirty="0" err="1">
                <a:solidFill>
                  <a:srgbClr val="000000"/>
                </a:solidFill>
                <a:effectLst/>
                <a:ea typeface="Arial" panose="020B0604020202020204" pitchFamily="34" charset="0"/>
              </a:rPr>
              <a:t>color</a:t>
            </a:r>
            <a:r>
              <a:rPr lang="en-IN" sz="1800" kern="100" dirty="0">
                <a:solidFill>
                  <a:srgbClr val="000000"/>
                </a:solidFill>
                <a:effectLst/>
                <a:ea typeface="Arial" panose="020B0604020202020204" pitchFamily="34" charset="0"/>
              </a:rPr>
              <a:t> when hovered over, and upon clicking it, it scrolls down to the next page.</a:t>
            </a:r>
          </a:p>
          <a:p>
            <a:endParaRPr lang="en-IN" sz="1800" kern="100" dirty="0">
              <a:solidFill>
                <a:srgbClr val="000000"/>
              </a:solidFill>
              <a:effectLst/>
              <a:latin typeface="Arial" panose="020B0604020202020204" pitchFamily="34" charset="0"/>
              <a:ea typeface="Arial" panose="020B0604020202020204" pitchFamily="34" charset="0"/>
            </a:endParaRPr>
          </a:p>
          <a:p>
            <a:endParaRPr lang="en-IN" dirty="0"/>
          </a:p>
        </p:txBody>
      </p:sp>
    </p:spTree>
    <p:extLst>
      <p:ext uri="{BB962C8B-B14F-4D97-AF65-F5344CB8AC3E}">
        <p14:creationId xmlns:p14="http://schemas.microsoft.com/office/powerpoint/2010/main" val="1533251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734EE4-4D6F-BF50-2621-9F48170AAFF8}"/>
              </a:ext>
            </a:extLst>
          </p:cNvPr>
          <p:cNvSpPr txBox="1"/>
          <p:nvPr/>
        </p:nvSpPr>
        <p:spPr>
          <a:xfrm>
            <a:off x="933061" y="1511558"/>
            <a:ext cx="8780106" cy="3139321"/>
          </a:xfrm>
          <a:prstGeom prst="rect">
            <a:avLst/>
          </a:prstGeom>
          <a:noFill/>
        </p:spPr>
        <p:txBody>
          <a:bodyPr wrap="square" rtlCol="0">
            <a:spAutoFit/>
          </a:bodyPr>
          <a:lstStyle/>
          <a:p>
            <a:r>
              <a:rPr lang="en-US" dirty="0"/>
              <a:t>My team consists of four members:- </a:t>
            </a:r>
          </a:p>
          <a:p>
            <a:r>
              <a:rPr lang="en-US" dirty="0" err="1"/>
              <a:t>Aiyaz</a:t>
            </a:r>
            <a:endParaRPr lang="en-US" dirty="0"/>
          </a:p>
          <a:p>
            <a:r>
              <a:rPr lang="en-US" dirty="0"/>
              <a:t>Ganesh kumar </a:t>
            </a:r>
          </a:p>
          <a:p>
            <a:r>
              <a:rPr lang="en-US" dirty="0" err="1"/>
              <a:t>Bhuvana</a:t>
            </a:r>
            <a:endParaRPr lang="en-US" dirty="0"/>
          </a:p>
          <a:p>
            <a:r>
              <a:rPr lang="en-US" dirty="0"/>
              <a:t>Kushi </a:t>
            </a:r>
          </a:p>
          <a:p>
            <a:endParaRPr lang="en-US" dirty="0"/>
          </a:p>
          <a:p>
            <a:r>
              <a:rPr lang="en-US" dirty="0"/>
              <a:t>As the team member, I've divided the work into four parts. I’m and </a:t>
            </a:r>
            <a:r>
              <a:rPr lang="en-US" dirty="0" err="1"/>
              <a:t>Aiyaz</a:t>
            </a:r>
            <a:r>
              <a:rPr lang="en-US" dirty="0"/>
              <a:t> are responsible for designing the website. </a:t>
            </a:r>
            <a:r>
              <a:rPr lang="en-US" dirty="0" err="1"/>
              <a:t>Bhuvana</a:t>
            </a:r>
            <a:r>
              <a:rPr lang="en-US" dirty="0"/>
              <a:t> is responsible for adding styles to make it attractive. Khushi is responsible for testing the website to ensure it functions perfectly. If any errors are found, the whole team collaborates to solve them and ensure the project is completed on time. </a:t>
            </a:r>
          </a:p>
          <a:p>
            <a:r>
              <a:rPr lang="en-US" dirty="0"/>
              <a:t>Here, I have used Visual Studio code software to create this project.</a:t>
            </a:r>
            <a:endParaRPr lang="en-IN" dirty="0"/>
          </a:p>
        </p:txBody>
      </p:sp>
      <p:sp>
        <p:nvSpPr>
          <p:cNvPr id="3" name="TextBox 2">
            <a:extLst>
              <a:ext uri="{FF2B5EF4-FFF2-40B4-BE49-F238E27FC236}">
                <a16:creationId xmlns:a16="http://schemas.microsoft.com/office/drawing/2014/main" id="{CCD03EFA-CB13-BA5C-BB66-4B3BC1F3A79A}"/>
              </a:ext>
            </a:extLst>
          </p:cNvPr>
          <p:cNvSpPr txBox="1"/>
          <p:nvPr/>
        </p:nvSpPr>
        <p:spPr>
          <a:xfrm>
            <a:off x="3209730" y="503853"/>
            <a:ext cx="5047861" cy="461665"/>
          </a:xfrm>
          <a:prstGeom prst="rect">
            <a:avLst/>
          </a:prstGeom>
          <a:noFill/>
        </p:spPr>
        <p:txBody>
          <a:bodyPr wrap="square" rtlCol="0">
            <a:spAutoFit/>
          </a:bodyPr>
          <a:lstStyle/>
          <a:p>
            <a:r>
              <a:rPr lang="en-US" sz="2400" b="1" dirty="0"/>
              <a:t>Specific tasks or areas in the project</a:t>
            </a:r>
            <a:endParaRPr lang="en-IN" sz="2400" b="1" dirty="0"/>
          </a:p>
        </p:txBody>
      </p:sp>
    </p:spTree>
    <p:extLst>
      <p:ext uri="{BB962C8B-B14F-4D97-AF65-F5344CB8AC3E}">
        <p14:creationId xmlns:p14="http://schemas.microsoft.com/office/powerpoint/2010/main" val="2795742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1C183A-4549-5E5B-7549-7A12AF348A2A}"/>
              </a:ext>
            </a:extLst>
          </p:cNvPr>
          <p:cNvSpPr txBox="1"/>
          <p:nvPr/>
        </p:nvSpPr>
        <p:spPr>
          <a:xfrm>
            <a:off x="3769567" y="2976466"/>
            <a:ext cx="4293227" cy="1107996"/>
          </a:xfrm>
          <a:prstGeom prst="rect">
            <a:avLst/>
          </a:prstGeom>
          <a:noFill/>
        </p:spPr>
        <p:txBody>
          <a:bodyPr wrap="none" rtlCol="0">
            <a:spAutoFit/>
          </a:bodyPr>
          <a:lstStyle/>
          <a:p>
            <a:r>
              <a:rPr lang="en-GB" sz="6600" b="1" dirty="0">
                <a:solidFill>
                  <a:schemeClr val="accent2">
                    <a:lumMod val="75000"/>
                  </a:schemeClr>
                </a:solidFill>
                <a:latin typeface="Cambria" panose="02040503050406030204" pitchFamily="18" charset="0"/>
                <a:ea typeface="Cambria" panose="02040503050406030204" pitchFamily="18" charset="0"/>
              </a:rPr>
              <a:t>Thank you</a:t>
            </a:r>
            <a:endParaRPr lang="en-IN" sz="6600" b="1" dirty="0">
              <a:solidFill>
                <a:schemeClr val="accent2">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774159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444</TotalTime>
  <Words>1104</Words>
  <Application>Microsoft Office PowerPoint</Application>
  <PresentationFormat>Widescreen</PresentationFormat>
  <Paragraphs>148</Paragraphs>
  <Slides>19</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19</vt:i4>
      </vt:variant>
    </vt:vector>
  </HeadingPairs>
  <TitlesOfParts>
    <vt:vector size="32" baseType="lpstr">
      <vt:lpstr>Aptos</vt:lpstr>
      <vt:lpstr>Aptos Display</vt:lpstr>
      <vt:lpstr>Aptos Narrow</vt:lpstr>
      <vt:lpstr>Arial</vt:lpstr>
      <vt:lpstr>Calibri</vt:lpstr>
      <vt:lpstr>Californian FB</vt:lpstr>
      <vt:lpstr>Calisto MT</vt:lpstr>
      <vt:lpstr>Cambria</vt:lpstr>
      <vt:lpstr>Copperplate Gothic Bold</vt:lpstr>
      <vt:lpstr>Tw Cen MT</vt:lpstr>
      <vt:lpstr>Tw Cen MT Condensed</vt:lpstr>
      <vt:lpstr>Wingdings 3</vt:lpstr>
      <vt:lpstr>Integral</vt:lpstr>
      <vt:lpstr>An overview of internship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ABHIVRIDDHHI EDU TECH</dc:title>
  <dc:creator>ganesh kumar</dc:creator>
  <cp:lastModifiedBy>ganesh kumar</cp:lastModifiedBy>
  <cp:revision>14</cp:revision>
  <dcterms:created xsi:type="dcterms:W3CDTF">2024-02-02T15:25:44Z</dcterms:created>
  <dcterms:modified xsi:type="dcterms:W3CDTF">2024-05-19T01:45:27Z</dcterms:modified>
</cp:coreProperties>
</file>